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8" r:id="rId3"/>
    <p:sldId id="276" r:id="rId4"/>
    <p:sldId id="259" r:id="rId5"/>
    <p:sldId id="257" r:id="rId6"/>
    <p:sldId id="260" r:id="rId7"/>
    <p:sldId id="277" r:id="rId8"/>
    <p:sldId id="261" r:id="rId9"/>
    <p:sldId id="262" r:id="rId10"/>
    <p:sldId id="263" r:id="rId11"/>
    <p:sldId id="264" r:id="rId12"/>
    <p:sldId id="265" r:id="rId13"/>
    <p:sldId id="278" r:id="rId14"/>
    <p:sldId id="267" r:id="rId15"/>
    <p:sldId id="268" r:id="rId16"/>
    <p:sldId id="279" r:id="rId17"/>
    <p:sldId id="274" r:id="rId18"/>
    <p:sldId id="275" r:id="rId19"/>
  </p:sldIdLst>
  <p:sldSz cx="18288000" cy="10287000"/>
  <p:notesSz cx="6858000" cy="9144000"/>
  <p:embeddedFontLst>
    <p:embeddedFont>
      <p:font typeface="Poppins Bold" panose="020B0604020202020204" charset="0"/>
      <p:regular r:id="rId20"/>
    </p:embeddedFont>
    <p:embeddedFont>
      <p:font typeface="Calibri" panose="020F0502020204030204" pitchFamily="34" charset="0"/>
      <p:regular r:id="rId21"/>
      <p:bold r:id="rId22"/>
      <p:italic r:id="rId23"/>
      <p:boldItalic r:id="rId24"/>
    </p:embeddedFont>
    <p:embeddedFont>
      <p:font typeface="Copperplate Gothic Bold" panose="020E0705020206020404" pitchFamily="34" charset="0"/>
      <p:regular r:id="rId25"/>
    </p:embeddedFont>
    <p:embeddedFont>
      <p:font typeface="Public Sans" panose="020B0604020202020204" charset="0"/>
      <p:regular r:id="rId26"/>
    </p:embeddedFont>
    <p:embeddedFont>
      <p:font typeface="Calisto MT" panose="02040603050505030304" pitchFamily="18" charset="0"/>
      <p:regular r:id="rId27"/>
      <p:bold r:id="rId28"/>
      <p:italic r:id="rId29"/>
      <p:boldItalic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7" d="100"/>
          <a:sy n="47" d="100"/>
        </p:scale>
        <p:origin x="696"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5/23/2026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5/23/2026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5/23/2026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3.jp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2.png"/><Relationship Id="rId4" Type="http://schemas.openxmlformats.org/officeDocument/2006/relationships/image" Target="../media/image14.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43E63"/>
        </a:solidFill>
        <a:effectLst/>
      </p:bgPr>
    </p:bg>
    <p:spTree>
      <p:nvGrpSpPr>
        <p:cNvPr id="1" name=""/>
        <p:cNvGrpSpPr/>
        <p:nvPr/>
      </p:nvGrpSpPr>
      <p:grpSpPr>
        <a:xfrm>
          <a:off x="0" y="0"/>
          <a:ext cx="0" cy="0"/>
          <a:chOff x="0" y="0"/>
          <a:chExt cx="0" cy="0"/>
        </a:xfrm>
      </p:grpSpPr>
      <p:sp>
        <p:nvSpPr>
          <p:cNvPr id="2" name="Freeform 2"/>
          <p:cNvSpPr/>
          <p:nvPr/>
        </p:nvSpPr>
        <p:spPr>
          <a:xfrm rot="-5931620" flipH="1">
            <a:off x="5277259" y="-5894618"/>
            <a:ext cx="5404519" cy="10214726"/>
          </a:xfrm>
          <a:custGeom>
            <a:avLst/>
            <a:gdLst/>
            <a:ahLst/>
            <a:cxnLst/>
            <a:rect l="l" t="t" r="r" b="b"/>
            <a:pathLst>
              <a:path w="5404519" h="10214726">
                <a:moveTo>
                  <a:pt x="5404519" y="0"/>
                </a:moveTo>
                <a:lnTo>
                  <a:pt x="0" y="0"/>
                </a:lnTo>
                <a:lnTo>
                  <a:pt x="0" y="10214726"/>
                </a:lnTo>
                <a:lnTo>
                  <a:pt x="5404519" y="10214726"/>
                </a:lnTo>
                <a:lnTo>
                  <a:pt x="5404519" y="0"/>
                </a:lnTo>
                <a:close/>
              </a:path>
            </a:pathLst>
          </a:custGeom>
          <a:blipFill>
            <a:blip r:embed="rId2">
              <a:alphaModFix amt="50000"/>
              <a:extLst>
                <a:ext uri="{96DAC541-7B7A-43D3-8B79-37D633B846F1}">
                  <asvg:svgBlip xmlns:asvg="http://schemas.microsoft.com/office/drawing/2016/SVG/main" xmlns="" r:embed="rId3"/>
                </a:ext>
              </a:extLst>
            </a:blip>
            <a:stretch>
              <a:fillRect/>
            </a:stretch>
          </a:blipFill>
        </p:spPr>
      </p:sp>
      <p:sp>
        <p:nvSpPr>
          <p:cNvPr id="3" name="Freeform 3"/>
          <p:cNvSpPr/>
          <p:nvPr/>
        </p:nvSpPr>
        <p:spPr>
          <a:xfrm rot="8510065" flipH="1" flipV="1">
            <a:off x="-220504" y="6884292"/>
            <a:ext cx="4147622" cy="7839148"/>
          </a:xfrm>
          <a:custGeom>
            <a:avLst/>
            <a:gdLst/>
            <a:ahLst/>
            <a:cxnLst/>
            <a:rect l="l" t="t" r="r" b="b"/>
            <a:pathLst>
              <a:path w="4147622" h="7839148">
                <a:moveTo>
                  <a:pt x="4147622" y="7839149"/>
                </a:moveTo>
                <a:lnTo>
                  <a:pt x="0" y="7839149"/>
                </a:lnTo>
                <a:lnTo>
                  <a:pt x="0" y="0"/>
                </a:lnTo>
                <a:lnTo>
                  <a:pt x="4147622" y="0"/>
                </a:lnTo>
                <a:lnTo>
                  <a:pt x="4147622" y="7839149"/>
                </a:lnTo>
                <a:close/>
              </a:path>
            </a:pathLst>
          </a:custGeom>
          <a:blipFill>
            <a:blip r:embed="rId2">
              <a:alphaModFix amt="50000"/>
              <a:extLst>
                <a:ext uri="{96DAC541-7B7A-43D3-8B79-37D633B846F1}">
                  <asvg:svgBlip xmlns:asvg="http://schemas.microsoft.com/office/drawing/2016/SVG/main" xmlns="" r:embed="rId3"/>
                </a:ext>
              </a:extLst>
            </a:blip>
            <a:stretch>
              <a:fillRect/>
            </a:stretch>
          </a:blipFill>
        </p:spPr>
      </p:sp>
      <p:grpSp>
        <p:nvGrpSpPr>
          <p:cNvPr id="4" name="Group 4"/>
          <p:cNvGrpSpPr/>
          <p:nvPr/>
        </p:nvGrpSpPr>
        <p:grpSpPr>
          <a:xfrm>
            <a:off x="0" y="3295650"/>
            <a:ext cx="17148810" cy="3695700"/>
            <a:chOff x="0" y="0"/>
            <a:chExt cx="4516559" cy="973353"/>
          </a:xfrm>
        </p:grpSpPr>
        <p:sp>
          <p:nvSpPr>
            <p:cNvPr id="5" name="Freeform 5"/>
            <p:cNvSpPr/>
            <p:nvPr/>
          </p:nvSpPr>
          <p:spPr>
            <a:xfrm>
              <a:off x="0" y="0"/>
              <a:ext cx="4516559" cy="973353"/>
            </a:xfrm>
            <a:custGeom>
              <a:avLst/>
              <a:gdLst/>
              <a:ahLst/>
              <a:cxnLst/>
              <a:rect l="l" t="t" r="r" b="b"/>
              <a:pathLst>
                <a:path w="4516559" h="973353">
                  <a:moveTo>
                    <a:pt x="0" y="0"/>
                  </a:moveTo>
                  <a:lnTo>
                    <a:pt x="4516559" y="0"/>
                  </a:lnTo>
                  <a:lnTo>
                    <a:pt x="4516559" y="973353"/>
                  </a:lnTo>
                  <a:lnTo>
                    <a:pt x="0" y="973353"/>
                  </a:lnTo>
                  <a:close/>
                </a:path>
              </a:pathLst>
            </a:custGeom>
            <a:solidFill>
              <a:srgbClr val="043E63"/>
            </a:solidFill>
          </p:spPr>
        </p:sp>
        <p:sp>
          <p:nvSpPr>
            <p:cNvPr id="6" name="TextBox 6"/>
            <p:cNvSpPr txBox="1"/>
            <p:nvPr/>
          </p:nvSpPr>
          <p:spPr>
            <a:xfrm>
              <a:off x="0" y="-38100"/>
              <a:ext cx="4516559" cy="1011453"/>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rot="5400000">
            <a:off x="15296962" y="5143688"/>
            <a:ext cx="4839076" cy="1143000"/>
            <a:chOff x="0" y="0"/>
            <a:chExt cx="860419" cy="203233"/>
          </a:xfrm>
        </p:grpSpPr>
        <p:sp>
          <p:nvSpPr>
            <p:cNvPr id="8" name="Freeform 8"/>
            <p:cNvSpPr/>
            <p:nvPr/>
          </p:nvSpPr>
          <p:spPr>
            <a:xfrm>
              <a:off x="0" y="0"/>
              <a:ext cx="860419" cy="203233"/>
            </a:xfrm>
            <a:custGeom>
              <a:avLst/>
              <a:gdLst/>
              <a:ahLst/>
              <a:cxnLst/>
              <a:rect l="l" t="t" r="r" b="b"/>
              <a:pathLst>
                <a:path w="860419" h="203233">
                  <a:moveTo>
                    <a:pt x="203200" y="0"/>
                  </a:moveTo>
                  <a:lnTo>
                    <a:pt x="860419" y="0"/>
                  </a:lnTo>
                  <a:lnTo>
                    <a:pt x="657219" y="203233"/>
                  </a:lnTo>
                  <a:lnTo>
                    <a:pt x="0" y="203233"/>
                  </a:lnTo>
                  <a:lnTo>
                    <a:pt x="203200" y="0"/>
                  </a:lnTo>
                  <a:close/>
                </a:path>
              </a:pathLst>
            </a:custGeom>
            <a:solidFill>
              <a:srgbClr val="043E63"/>
            </a:solidFill>
          </p:spPr>
        </p:sp>
        <p:sp>
          <p:nvSpPr>
            <p:cNvPr id="9" name="TextBox 9"/>
            <p:cNvSpPr txBox="1"/>
            <p:nvPr/>
          </p:nvSpPr>
          <p:spPr>
            <a:xfrm>
              <a:off x="101600" y="-38100"/>
              <a:ext cx="657219" cy="241333"/>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9438338" y="1466850"/>
            <a:ext cx="7353488" cy="7353488"/>
            <a:chOff x="0" y="0"/>
            <a:chExt cx="1936721" cy="1936721"/>
          </a:xfrm>
        </p:grpSpPr>
        <p:sp>
          <p:nvSpPr>
            <p:cNvPr id="11" name="Freeform 11"/>
            <p:cNvSpPr/>
            <p:nvPr/>
          </p:nvSpPr>
          <p:spPr>
            <a:xfrm>
              <a:off x="0" y="0"/>
              <a:ext cx="1936721" cy="1936721"/>
            </a:xfrm>
            <a:custGeom>
              <a:avLst/>
              <a:gdLst/>
              <a:ahLst/>
              <a:cxnLst/>
              <a:rect l="l" t="t" r="r" b="b"/>
              <a:pathLst>
                <a:path w="1936721" h="1936721">
                  <a:moveTo>
                    <a:pt x="126339" y="0"/>
                  </a:moveTo>
                  <a:lnTo>
                    <a:pt x="1810382" y="0"/>
                  </a:lnTo>
                  <a:cubicBezTo>
                    <a:pt x="1880157" y="0"/>
                    <a:pt x="1936721" y="56564"/>
                    <a:pt x="1936721" y="126339"/>
                  </a:cubicBezTo>
                  <a:lnTo>
                    <a:pt x="1936721" y="1810382"/>
                  </a:lnTo>
                  <a:cubicBezTo>
                    <a:pt x="1936721" y="1880157"/>
                    <a:pt x="1880157" y="1936721"/>
                    <a:pt x="1810382" y="1936721"/>
                  </a:cubicBezTo>
                  <a:lnTo>
                    <a:pt x="126339" y="1936721"/>
                  </a:lnTo>
                  <a:cubicBezTo>
                    <a:pt x="56564" y="1936721"/>
                    <a:pt x="0" y="1880157"/>
                    <a:pt x="0" y="1810382"/>
                  </a:cubicBezTo>
                  <a:lnTo>
                    <a:pt x="0" y="126339"/>
                  </a:lnTo>
                  <a:cubicBezTo>
                    <a:pt x="0" y="56564"/>
                    <a:pt x="56564" y="0"/>
                    <a:pt x="126339" y="0"/>
                  </a:cubicBezTo>
                  <a:close/>
                </a:path>
              </a:pathLst>
            </a:custGeom>
            <a:solidFill>
              <a:srgbClr val="5CEAD2"/>
            </a:solidFill>
          </p:spPr>
        </p:sp>
        <p:sp>
          <p:nvSpPr>
            <p:cNvPr id="12" name="TextBox 12"/>
            <p:cNvSpPr txBox="1"/>
            <p:nvPr/>
          </p:nvSpPr>
          <p:spPr>
            <a:xfrm>
              <a:off x="0" y="-38100"/>
              <a:ext cx="1936721" cy="1974821"/>
            </a:xfrm>
            <a:prstGeom prst="rect">
              <a:avLst/>
            </a:prstGeom>
          </p:spPr>
          <p:txBody>
            <a:bodyPr lIns="50800" tIns="50800" rIns="50800" bIns="50800" rtlCol="0" anchor="ctr"/>
            <a:lstStyle/>
            <a:p>
              <a:pPr algn="ctr">
                <a:lnSpc>
                  <a:spcPts val="2659"/>
                </a:lnSpc>
              </a:pPr>
              <a:endParaRPr/>
            </a:p>
          </p:txBody>
        </p:sp>
      </p:grpSp>
      <p:sp>
        <p:nvSpPr>
          <p:cNvPr id="15" name="Freeform 15"/>
          <p:cNvSpPr/>
          <p:nvPr/>
        </p:nvSpPr>
        <p:spPr>
          <a:xfrm rot="-5400000">
            <a:off x="398552" y="397200"/>
            <a:ext cx="611098" cy="611098"/>
          </a:xfrm>
          <a:custGeom>
            <a:avLst/>
            <a:gdLst/>
            <a:ahLst/>
            <a:cxnLst/>
            <a:rect l="l" t="t" r="r" b="b"/>
            <a:pathLst>
              <a:path w="611098" h="611098">
                <a:moveTo>
                  <a:pt x="0" y="0"/>
                </a:moveTo>
                <a:lnTo>
                  <a:pt x="611098" y="0"/>
                </a:lnTo>
                <a:lnTo>
                  <a:pt x="611098" y="611098"/>
                </a:lnTo>
                <a:lnTo>
                  <a:pt x="0" y="611098"/>
                </a:lnTo>
                <a:lnTo>
                  <a:pt x="0" y="0"/>
                </a:lnTo>
                <a:close/>
              </a:path>
            </a:pathLst>
          </a:custGeom>
          <a:blipFill>
            <a:blip r:embed="rId4">
              <a:extLst>
                <a:ext uri="{96DAC541-7B7A-43D3-8B79-37D633B846F1}">
                  <asvg:svgBlip xmlns:asvg="http://schemas.microsoft.com/office/drawing/2016/SVG/main" xmlns="" r:embed="rId6"/>
                </a:ext>
              </a:extLst>
            </a:blip>
            <a:stretch>
              <a:fillRect/>
            </a:stretch>
          </a:blipFill>
        </p:spPr>
      </p:sp>
      <p:grpSp>
        <p:nvGrpSpPr>
          <p:cNvPr id="16" name="Group 16"/>
          <p:cNvGrpSpPr/>
          <p:nvPr/>
        </p:nvGrpSpPr>
        <p:grpSpPr>
          <a:xfrm>
            <a:off x="1219200" y="9796884"/>
            <a:ext cx="40903" cy="40903"/>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EAD2"/>
            </a:solidFill>
          </p:spPr>
        </p:sp>
        <p:sp>
          <p:nvSpPr>
            <p:cNvPr id="18" name="TextBox 18"/>
            <p:cNvSpPr txBox="1"/>
            <p:nvPr/>
          </p:nvSpPr>
          <p:spPr>
            <a:xfrm>
              <a:off x="76200" y="38100"/>
              <a:ext cx="660400" cy="698500"/>
            </a:xfrm>
            <a:prstGeom prst="rect">
              <a:avLst/>
            </a:prstGeom>
          </p:spPr>
          <p:txBody>
            <a:bodyPr lIns="74078" tIns="74078" rIns="74078" bIns="74078" rtlCol="0" anchor="ctr"/>
            <a:lstStyle/>
            <a:p>
              <a:pPr algn="ctr">
                <a:lnSpc>
                  <a:spcPts val="2659"/>
                </a:lnSpc>
              </a:pPr>
              <a:endParaRPr/>
            </a:p>
          </p:txBody>
        </p:sp>
      </p:grpSp>
      <p:sp>
        <p:nvSpPr>
          <p:cNvPr id="19" name="TextBox 19"/>
          <p:cNvSpPr txBox="1"/>
          <p:nvPr/>
        </p:nvSpPr>
        <p:spPr>
          <a:xfrm>
            <a:off x="398552" y="3173118"/>
            <a:ext cx="9230286" cy="3997914"/>
          </a:xfrm>
          <a:prstGeom prst="rect">
            <a:avLst/>
          </a:prstGeom>
        </p:spPr>
        <p:txBody>
          <a:bodyPr lIns="0" tIns="0" rIns="0" bIns="0" rtlCol="0" anchor="t">
            <a:spAutoFit/>
          </a:bodyPr>
          <a:lstStyle/>
          <a:p>
            <a:pPr algn="ctr">
              <a:lnSpc>
                <a:spcPts val="10180"/>
              </a:lnSpc>
            </a:pPr>
            <a:r>
              <a:rPr lang="en-US" sz="9788" b="1" spc="-234" dirty="0">
                <a:solidFill>
                  <a:schemeClr val="bg1"/>
                </a:solidFill>
                <a:latin typeface="Calisto MT" panose="02040603050505030304" pitchFamily="18" charset="0"/>
                <a:ea typeface="Poppins Bold"/>
                <a:cs typeface="Poppins Bold"/>
                <a:sym typeface="Poppins Bold"/>
              </a:rPr>
              <a:t>COLUMBIA ASIA</a:t>
            </a:r>
          </a:p>
          <a:p>
            <a:pPr algn="ctr">
              <a:lnSpc>
                <a:spcPts val="10180"/>
              </a:lnSpc>
            </a:pPr>
            <a:r>
              <a:rPr lang="en-US" sz="9788" b="1" spc="-234" dirty="0">
                <a:solidFill>
                  <a:schemeClr val="bg1"/>
                </a:solidFill>
                <a:latin typeface="Calisto MT" panose="02040603050505030304" pitchFamily="18" charset="0"/>
                <a:ea typeface="Poppins Bold"/>
                <a:cs typeface="Poppins Bold"/>
                <a:sym typeface="Poppins Bold"/>
              </a:rPr>
              <a:t>HOSPITAL</a:t>
            </a:r>
          </a:p>
        </p:txBody>
      </p:sp>
      <p:sp>
        <p:nvSpPr>
          <p:cNvPr id="20" name="TextBox 20"/>
          <p:cNvSpPr txBox="1"/>
          <p:nvPr/>
        </p:nvSpPr>
        <p:spPr>
          <a:xfrm>
            <a:off x="3883968" y="7868558"/>
            <a:ext cx="5377783" cy="551433"/>
          </a:xfrm>
          <a:prstGeom prst="rect">
            <a:avLst/>
          </a:prstGeom>
        </p:spPr>
        <p:txBody>
          <a:bodyPr lIns="0" tIns="0" rIns="0" bIns="0" rtlCol="0" anchor="t">
            <a:spAutoFit/>
          </a:bodyPr>
          <a:lstStyle/>
          <a:p>
            <a:pPr algn="ctr">
              <a:lnSpc>
                <a:spcPts val="4267"/>
              </a:lnSpc>
            </a:pPr>
            <a:r>
              <a:rPr lang="en-US" sz="4103" b="1" spc="-98" dirty="0" smtClean="0">
                <a:solidFill>
                  <a:schemeClr val="bg1"/>
                </a:solidFill>
                <a:latin typeface="Calisto MT" panose="02040603050505030304" pitchFamily="18" charset="0"/>
                <a:ea typeface="Poppins Bold"/>
                <a:cs typeface="Poppins Bold"/>
                <a:sym typeface="Poppins Bold"/>
              </a:rPr>
              <a:t>-by Ankur Choudhary</a:t>
            </a:r>
            <a:endParaRPr lang="en-US" sz="4103" b="1" spc="-98" dirty="0">
              <a:solidFill>
                <a:schemeClr val="bg1"/>
              </a:solidFill>
              <a:latin typeface="Calisto MT" panose="02040603050505030304" pitchFamily="18" charset="0"/>
              <a:ea typeface="Poppins Bold"/>
              <a:cs typeface="Poppins Bold"/>
              <a:sym typeface="Poppins Bold"/>
            </a:endParaRPr>
          </a:p>
        </p:txBody>
      </p:sp>
      <p:pic>
        <p:nvPicPr>
          <p:cNvPr id="24" name="Picture 23"/>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334460" y="1466850"/>
            <a:ext cx="7902643" cy="7498149"/>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43E63"/>
        </a:solidFill>
        <a:effectLst/>
      </p:bgPr>
    </p:bg>
    <p:spTree>
      <p:nvGrpSpPr>
        <p:cNvPr id="1" name=""/>
        <p:cNvGrpSpPr/>
        <p:nvPr/>
      </p:nvGrpSpPr>
      <p:grpSpPr>
        <a:xfrm>
          <a:off x="0" y="0"/>
          <a:ext cx="0" cy="0"/>
          <a:chOff x="0" y="0"/>
          <a:chExt cx="0" cy="0"/>
        </a:xfrm>
      </p:grpSpPr>
      <p:sp>
        <p:nvSpPr>
          <p:cNvPr id="2" name="TextBox 2"/>
          <p:cNvSpPr txBox="1"/>
          <p:nvPr/>
        </p:nvSpPr>
        <p:spPr>
          <a:xfrm>
            <a:off x="2438400" y="420687"/>
            <a:ext cx="13411199" cy="1006173"/>
          </a:xfrm>
          <a:prstGeom prst="rect">
            <a:avLst/>
          </a:prstGeom>
        </p:spPr>
        <p:txBody>
          <a:bodyPr wrap="square" lIns="0" tIns="0" rIns="0" bIns="0" rtlCol="0" anchor="t">
            <a:spAutoFit/>
          </a:bodyPr>
          <a:lstStyle/>
          <a:p>
            <a:pPr algn="ctr">
              <a:lnSpc>
                <a:spcPts val="8399"/>
              </a:lnSpc>
              <a:spcBef>
                <a:spcPct val="0"/>
              </a:spcBef>
            </a:pPr>
            <a:r>
              <a:rPr lang="en-IN" sz="6000" b="1" dirty="0">
                <a:solidFill>
                  <a:schemeClr val="bg1"/>
                </a:solidFill>
                <a:latin typeface="Calisto MT" panose="02040603050505030304" pitchFamily="18" charset="0"/>
              </a:rPr>
              <a:t>About </a:t>
            </a:r>
            <a:r>
              <a:rPr lang="en-IN" sz="6000" b="1" dirty="0" smtClean="0">
                <a:solidFill>
                  <a:schemeClr val="bg1"/>
                </a:solidFill>
                <a:latin typeface="Calisto MT" panose="02040603050505030304" pitchFamily="18" charset="0"/>
              </a:rPr>
              <a:t>Columbia </a:t>
            </a:r>
            <a:r>
              <a:rPr lang="en-IN" sz="6000" b="1" dirty="0">
                <a:solidFill>
                  <a:schemeClr val="bg1"/>
                </a:solidFill>
                <a:latin typeface="Calisto MT" panose="02040603050505030304" pitchFamily="18" charset="0"/>
              </a:rPr>
              <a:t>Asia Hospital</a:t>
            </a:r>
            <a:endParaRPr lang="en-US" sz="6000" b="1" dirty="0">
              <a:solidFill>
                <a:schemeClr val="bg1"/>
              </a:solidFill>
              <a:latin typeface="Calisto MT" panose="02040603050505030304" pitchFamily="18" charset="0"/>
              <a:ea typeface="Times New Roman"/>
              <a:cs typeface="Times New Roman"/>
              <a:sym typeface="Times New Roman"/>
            </a:endParaRPr>
          </a:p>
        </p:txBody>
      </p:sp>
      <p:sp>
        <p:nvSpPr>
          <p:cNvPr id="3" name="TextBox 3"/>
          <p:cNvSpPr txBox="1"/>
          <p:nvPr/>
        </p:nvSpPr>
        <p:spPr>
          <a:xfrm>
            <a:off x="1143000" y="2857500"/>
            <a:ext cx="8686800" cy="5309146"/>
          </a:xfrm>
          <a:prstGeom prst="rect">
            <a:avLst/>
          </a:prstGeom>
        </p:spPr>
        <p:txBody>
          <a:bodyPr wrap="square" lIns="0" tIns="0" rIns="0" bIns="0" rtlCol="0" anchor="t">
            <a:spAutoFit/>
          </a:bodyPr>
          <a:lstStyle/>
          <a:p>
            <a:pPr marL="571500" indent="-571500">
              <a:lnSpc>
                <a:spcPts val="4581"/>
              </a:lnSpc>
              <a:buFont typeface="Courier New" panose="02070309020205020404" pitchFamily="49" charset="0"/>
              <a:buChar char="o"/>
            </a:pPr>
            <a:r>
              <a:rPr lang="en-US" sz="4000" dirty="0">
                <a:solidFill>
                  <a:schemeClr val="bg1"/>
                </a:solidFill>
                <a:latin typeface="Calisto MT" panose="02040603050505030304" pitchFamily="18" charset="0"/>
              </a:rPr>
              <a:t>Columbia Asia Hospital is a leading healthcare provider known for its multispecialty services and patient-centric approach</a:t>
            </a:r>
            <a:r>
              <a:rPr lang="en-US" sz="4000" dirty="0" smtClean="0">
                <a:solidFill>
                  <a:schemeClr val="bg1"/>
                </a:solidFill>
                <a:latin typeface="Calisto MT" panose="02040603050505030304" pitchFamily="18" charset="0"/>
              </a:rPr>
              <a:t>.</a:t>
            </a:r>
          </a:p>
          <a:p>
            <a:pPr marL="571500" indent="-571500">
              <a:lnSpc>
                <a:spcPts val="4581"/>
              </a:lnSpc>
              <a:buFont typeface="Courier New" panose="02070309020205020404" pitchFamily="49" charset="0"/>
              <a:buChar char="o"/>
            </a:pPr>
            <a:r>
              <a:rPr lang="en-US" sz="4000" dirty="0" smtClean="0">
                <a:solidFill>
                  <a:schemeClr val="bg1"/>
                </a:solidFill>
                <a:latin typeface="Calisto MT" panose="02040603050505030304" pitchFamily="18" charset="0"/>
              </a:rPr>
              <a:t> </a:t>
            </a:r>
            <a:r>
              <a:rPr lang="en-US" sz="4000" dirty="0">
                <a:solidFill>
                  <a:schemeClr val="bg1"/>
                </a:solidFill>
                <a:latin typeface="Calisto MT" panose="02040603050505030304" pitchFamily="18" charset="0"/>
              </a:rPr>
              <a:t>With an increasing patient base and growing operations, the hospital aims to enhance both financial performance and service quality through data-driven insights</a:t>
            </a:r>
            <a:endParaRPr lang="en-US" sz="4000" spc="234" dirty="0">
              <a:solidFill>
                <a:schemeClr val="bg1"/>
              </a:solidFill>
              <a:latin typeface="Calisto MT" panose="02040603050505030304" pitchFamily="18" charset="0"/>
              <a:ea typeface="Times New Roman"/>
              <a:cs typeface="Times New Roman"/>
              <a:sym typeface="Times New Roman"/>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82400" y="2824480"/>
            <a:ext cx="5156746" cy="5156746"/>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43E63"/>
        </a:solidFill>
        <a:effectLst/>
      </p:bgPr>
    </p:bg>
    <p:spTree>
      <p:nvGrpSpPr>
        <p:cNvPr id="1" name=""/>
        <p:cNvGrpSpPr/>
        <p:nvPr/>
      </p:nvGrpSpPr>
      <p:grpSpPr>
        <a:xfrm>
          <a:off x="0" y="0"/>
          <a:ext cx="0" cy="0"/>
          <a:chOff x="0" y="0"/>
          <a:chExt cx="0" cy="0"/>
        </a:xfrm>
      </p:grpSpPr>
      <p:sp>
        <p:nvSpPr>
          <p:cNvPr id="2" name="TextBox 2"/>
          <p:cNvSpPr txBox="1"/>
          <p:nvPr/>
        </p:nvSpPr>
        <p:spPr>
          <a:xfrm>
            <a:off x="5440627" y="420687"/>
            <a:ext cx="6359723" cy="1006173"/>
          </a:xfrm>
          <a:prstGeom prst="rect">
            <a:avLst/>
          </a:prstGeom>
        </p:spPr>
        <p:txBody>
          <a:bodyPr lIns="0" tIns="0" rIns="0" bIns="0" rtlCol="0" anchor="t">
            <a:spAutoFit/>
          </a:bodyPr>
          <a:lstStyle/>
          <a:p>
            <a:pPr algn="ctr">
              <a:lnSpc>
                <a:spcPts val="8399"/>
              </a:lnSpc>
              <a:spcBef>
                <a:spcPct val="0"/>
              </a:spcBef>
            </a:pPr>
            <a:r>
              <a:rPr lang="en-IN" sz="6000" dirty="0">
                <a:solidFill>
                  <a:schemeClr val="bg1"/>
                </a:solidFill>
                <a:latin typeface="Calisto MT" panose="02040603050505030304" pitchFamily="18" charset="0"/>
              </a:rPr>
              <a:t>Problem </a:t>
            </a:r>
            <a:r>
              <a:rPr lang="en-IN" sz="6000" dirty="0" smtClean="0">
                <a:solidFill>
                  <a:schemeClr val="bg1"/>
                </a:solidFill>
                <a:latin typeface="Calisto MT" panose="02040603050505030304" pitchFamily="18" charset="0"/>
              </a:rPr>
              <a:t>Statement</a:t>
            </a:r>
            <a:endParaRPr lang="en-US" sz="5999" dirty="0">
              <a:solidFill>
                <a:schemeClr val="bg1"/>
              </a:solidFill>
              <a:latin typeface="Calisto MT" panose="02040603050505030304" pitchFamily="18" charset="0"/>
              <a:ea typeface="Times New Roman"/>
              <a:cs typeface="Times New Roman"/>
              <a:sym typeface="Times New Roman"/>
            </a:endParaRPr>
          </a:p>
        </p:txBody>
      </p:sp>
      <p:sp>
        <p:nvSpPr>
          <p:cNvPr id="3" name="TextBox 3"/>
          <p:cNvSpPr txBox="1"/>
          <p:nvPr/>
        </p:nvSpPr>
        <p:spPr>
          <a:xfrm>
            <a:off x="1447800" y="3314700"/>
            <a:ext cx="16564946" cy="5280613"/>
          </a:xfrm>
          <a:prstGeom prst="rect">
            <a:avLst/>
          </a:prstGeom>
        </p:spPr>
        <p:txBody>
          <a:bodyPr lIns="0" tIns="0" rIns="0" bIns="0" rtlCol="0" anchor="t">
            <a:spAutoFit/>
          </a:bodyPr>
          <a:lstStyle/>
          <a:p>
            <a:pPr>
              <a:lnSpc>
                <a:spcPts val="4581"/>
              </a:lnSpc>
            </a:pPr>
            <a:r>
              <a:rPr lang="en-US" sz="4000" dirty="0">
                <a:solidFill>
                  <a:schemeClr val="bg1"/>
                </a:solidFill>
                <a:latin typeface="Calisto MT" panose="02040603050505030304" pitchFamily="18" charset="0"/>
              </a:rPr>
              <a:t>Columbia Asia Hospital aims to leverage data analytics to gain deeper insights into its operations and improve overall performance. The key focus areas include</a:t>
            </a:r>
            <a:r>
              <a:rPr lang="en-US" sz="3600" dirty="0" smtClean="0">
                <a:solidFill>
                  <a:schemeClr val="bg1"/>
                </a:solidFill>
                <a:latin typeface="Calisto MT" panose="02040603050505030304" pitchFamily="18" charset="0"/>
              </a:rPr>
              <a:t>:</a:t>
            </a:r>
          </a:p>
          <a:p>
            <a:pPr marL="742950" indent="-742950">
              <a:lnSpc>
                <a:spcPts val="4581"/>
              </a:lnSpc>
              <a:buFont typeface="Courier New" panose="02070309020205020404" pitchFamily="49" charset="0"/>
              <a:buChar char="o"/>
            </a:pPr>
            <a:r>
              <a:rPr lang="en-US" sz="4000" dirty="0" smtClean="0">
                <a:solidFill>
                  <a:schemeClr val="bg1"/>
                </a:solidFill>
                <a:latin typeface="Calisto MT" panose="02040603050505030304" pitchFamily="18" charset="0"/>
              </a:rPr>
              <a:t>Revenue </a:t>
            </a:r>
            <a:r>
              <a:rPr lang="en-US" sz="4000" dirty="0">
                <a:solidFill>
                  <a:schemeClr val="bg1"/>
                </a:solidFill>
                <a:latin typeface="Calisto MT" panose="02040603050505030304" pitchFamily="18" charset="0"/>
              </a:rPr>
              <a:t>Analysis</a:t>
            </a:r>
            <a:r>
              <a:rPr lang="en-US" sz="3600" dirty="0">
                <a:solidFill>
                  <a:schemeClr val="bg1"/>
                </a:solidFill>
                <a:latin typeface="Calisto MT" panose="02040603050505030304" pitchFamily="18" charset="0"/>
              </a:rPr>
              <a:t>: Understanding how different departments contribute to the hospital’s total revenue</a:t>
            </a:r>
            <a:r>
              <a:rPr lang="en-US" sz="3600" dirty="0" smtClean="0">
                <a:solidFill>
                  <a:schemeClr val="bg1"/>
                </a:solidFill>
                <a:latin typeface="Calisto MT" panose="02040603050505030304" pitchFamily="18" charset="0"/>
              </a:rPr>
              <a:t>.</a:t>
            </a:r>
          </a:p>
          <a:p>
            <a:pPr marL="742950" indent="-742950">
              <a:lnSpc>
                <a:spcPts val="4581"/>
              </a:lnSpc>
              <a:buFont typeface="Courier New" panose="02070309020205020404" pitchFamily="49" charset="0"/>
              <a:buChar char="o"/>
            </a:pPr>
            <a:r>
              <a:rPr lang="en-US" sz="4000" dirty="0" smtClean="0">
                <a:solidFill>
                  <a:schemeClr val="bg1"/>
                </a:solidFill>
                <a:latin typeface="Calisto MT" panose="02040603050505030304" pitchFamily="18" charset="0"/>
              </a:rPr>
              <a:t>Workforce </a:t>
            </a:r>
            <a:r>
              <a:rPr lang="en-US" sz="4000" dirty="0">
                <a:solidFill>
                  <a:schemeClr val="bg1"/>
                </a:solidFill>
                <a:latin typeface="Calisto MT" panose="02040603050505030304" pitchFamily="18" charset="0"/>
              </a:rPr>
              <a:t>Planning</a:t>
            </a:r>
            <a:r>
              <a:rPr lang="en-US" sz="3600" dirty="0">
                <a:solidFill>
                  <a:schemeClr val="bg1"/>
                </a:solidFill>
                <a:latin typeface="Calisto MT" panose="02040603050505030304" pitchFamily="18" charset="0"/>
              </a:rPr>
              <a:t>: Identifying departments that require additional staffing based on patient flow and service demand. </a:t>
            </a:r>
            <a:endParaRPr lang="en-US" sz="3600" dirty="0" smtClean="0">
              <a:solidFill>
                <a:schemeClr val="bg1"/>
              </a:solidFill>
              <a:latin typeface="Calisto MT" panose="02040603050505030304" pitchFamily="18" charset="0"/>
            </a:endParaRPr>
          </a:p>
          <a:p>
            <a:pPr marL="742950" indent="-742950">
              <a:lnSpc>
                <a:spcPts val="4581"/>
              </a:lnSpc>
              <a:buFont typeface="Courier New" panose="02070309020205020404" pitchFamily="49" charset="0"/>
              <a:buChar char="o"/>
            </a:pPr>
            <a:r>
              <a:rPr lang="en-US" sz="4000" dirty="0" smtClean="0">
                <a:solidFill>
                  <a:schemeClr val="bg1"/>
                </a:solidFill>
                <a:latin typeface="Calisto MT" panose="02040603050505030304" pitchFamily="18" charset="0"/>
              </a:rPr>
              <a:t>Discount </a:t>
            </a:r>
            <a:r>
              <a:rPr lang="en-US" sz="4000" dirty="0">
                <a:solidFill>
                  <a:schemeClr val="bg1"/>
                </a:solidFill>
                <a:latin typeface="Calisto MT" panose="02040603050505030304" pitchFamily="18" charset="0"/>
              </a:rPr>
              <a:t>Strategy</a:t>
            </a:r>
            <a:r>
              <a:rPr lang="en-US" sz="3600" dirty="0">
                <a:solidFill>
                  <a:schemeClr val="bg1"/>
                </a:solidFill>
                <a:latin typeface="Calisto MT" panose="02040603050505030304" pitchFamily="18" charset="0"/>
              </a:rPr>
              <a:t>: Developing effective discount policies to enhance patient satisfaction while maintaining profitability.</a:t>
            </a:r>
            <a:endParaRPr lang="en-US" sz="3600" spc="234" dirty="0">
              <a:solidFill>
                <a:schemeClr val="bg1"/>
              </a:solidFill>
              <a:latin typeface="Calisto MT" panose="02040603050505030304" pitchFamily="18" charset="0"/>
              <a:ea typeface="Times New Roman"/>
              <a:cs typeface="Times New Roman"/>
              <a:sym typeface="Times New Roman"/>
            </a:endParaRPr>
          </a:p>
        </p:txBody>
      </p:sp>
    </p:spTree>
    <p:extLst>
      <p:ext uri="{BB962C8B-B14F-4D97-AF65-F5344CB8AC3E}">
        <p14:creationId xmlns:p14="http://schemas.microsoft.com/office/powerpoint/2010/main" val="164895956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43E63"/>
        </a:solidFill>
        <a:effectLst/>
      </p:bgPr>
    </p:bg>
    <p:spTree>
      <p:nvGrpSpPr>
        <p:cNvPr id="1" name=""/>
        <p:cNvGrpSpPr/>
        <p:nvPr/>
      </p:nvGrpSpPr>
      <p:grpSpPr>
        <a:xfrm>
          <a:off x="0" y="0"/>
          <a:ext cx="0" cy="0"/>
          <a:chOff x="0" y="0"/>
          <a:chExt cx="0" cy="0"/>
        </a:xfrm>
      </p:grpSpPr>
      <p:sp>
        <p:nvSpPr>
          <p:cNvPr id="2" name="TextBox 2"/>
          <p:cNvSpPr txBox="1"/>
          <p:nvPr/>
        </p:nvSpPr>
        <p:spPr>
          <a:xfrm>
            <a:off x="3226079" y="2878640"/>
            <a:ext cx="10321082" cy="5642570"/>
          </a:xfrm>
          <a:prstGeom prst="rect">
            <a:avLst/>
          </a:prstGeom>
        </p:spPr>
        <p:txBody>
          <a:bodyPr lIns="0" tIns="0" rIns="0" bIns="0" rtlCol="0" anchor="t">
            <a:spAutoFit/>
          </a:bodyPr>
          <a:lstStyle/>
          <a:p>
            <a:pPr marL="854488" lvl="1" indent="-427244">
              <a:lnSpc>
                <a:spcPts val="5540"/>
              </a:lnSpc>
              <a:buFont typeface="Arial"/>
              <a:buChar char="•"/>
            </a:pPr>
            <a:r>
              <a:rPr lang="en-US" sz="4000" dirty="0" smtClean="0">
                <a:solidFill>
                  <a:schemeClr val="bg1"/>
                </a:solidFill>
                <a:latin typeface="Calisto MT" panose="02040603050505030304" pitchFamily="18" charset="0"/>
              </a:rPr>
              <a:t>Analyze </a:t>
            </a:r>
            <a:r>
              <a:rPr lang="en-US" sz="4000" dirty="0">
                <a:solidFill>
                  <a:schemeClr val="bg1"/>
                </a:solidFill>
                <a:latin typeface="Calisto MT" panose="02040603050505030304" pitchFamily="18" charset="0"/>
              </a:rPr>
              <a:t>hospital data to uncover key business </a:t>
            </a:r>
            <a:r>
              <a:rPr lang="en-US" sz="4000" dirty="0" smtClean="0">
                <a:solidFill>
                  <a:schemeClr val="bg1"/>
                </a:solidFill>
                <a:latin typeface="Calisto MT" panose="02040603050505030304" pitchFamily="18" charset="0"/>
              </a:rPr>
              <a:t>insights</a:t>
            </a:r>
          </a:p>
          <a:p>
            <a:pPr marL="854488" lvl="1" indent="-427244">
              <a:lnSpc>
                <a:spcPts val="5540"/>
              </a:lnSpc>
              <a:buFont typeface="Arial"/>
              <a:buChar char="•"/>
            </a:pPr>
            <a:r>
              <a:rPr lang="en-US" sz="4000" dirty="0" smtClean="0">
                <a:solidFill>
                  <a:schemeClr val="bg1"/>
                </a:solidFill>
                <a:latin typeface="Calisto MT" panose="02040603050505030304" pitchFamily="18" charset="0"/>
              </a:rPr>
              <a:t>Provide </a:t>
            </a:r>
            <a:r>
              <a:rPr lang="en-US" sz="4000" dirty="0">
                <a:solidFill>
                  <a:schemeClr val="bg1"/>
                </a:solidFill>
                <a:latin typeface="Calisto MT" panose="02040603050505030304" pitchFamily="18" charset="0"/>
              </a:rPr>
              <a:t>data-backed recommendations to help management make informed, strategic </a:t>
            </a:r>
            <a:r>
              <a:rPr lang="en-US" sz="4000" dirty="0" smtClean="0">
                <a:solidFill>
                  <a:schemeClr val="bg1"/>
                </a:solidFill>
                <a:latin typeface="Calisto MT" panose="02040603050505030304" pitchFamily="18" charset="0"/>
              </a:rPr>
              <a:t>decisions</a:t>
            </a:r>
          </a:p>
          <a:p>
            <a:pPr marL="854488" lvl="1" indent="-427244">
              <a:lnSpc>
                <a:spcPts val="5540"/>
              </a:lnSpc>
              <a:buFont typeface="Arial"/>
              <a:buChar char="•"/>
            </a:pPr>
            <a:r>
              <a:rPr lang="en-US" sz="4000" dirty="0" smtClean="0">
                <a:solidFill>
                  <a:schemeClr val="bg1"/>
                </a:solidFill>
                <a:latin typeface="Calisto MT" panose="02040603050505030304" pitchFamily="18" charset="0"/>
              </a:rPr>
              <a:t> </a:t>
            </a:r>
            <a:r>
              <a:rPr lang="en-US" sz="4000" dirty="0">
                <a:solidFill>
                  <a:schemeClr val="bg1"/>
                </a:solidFill>
                <a:latin typeface="Calisto MT" panose="02040603050505030304" pitchFamily="18" charset="0"/>
              </a:rPr>
              <a:t>Build visual dashboards that simplify complex information and support decision-making.</a:t>
            </a:r>
            <a:endParaRPr lang="en-US" sz="3957" dirty="0">
              <a:solidFill>
                <a:schemeClr val="bg1"/>
              </a:solidFill>
              <a:latin typeface="Calisto MT" panose="02040603050505030304" pitchFamily="18" charset="0"/>
              <a:ea typeface="Times New Roman"/>
              <a:cs typeface="Times New Roman"/>
              <a:sym typeface="Times New Roman"/>
            </a:endParaRPr>
          </a:p>
        </p:txBody>
      </p:sp>
      <p:sp>
        <p:nvSpPr>
          <p:cNvPr id="3" name="TextBox 3"/>
          <p:cNvSpPr txBox="1"/>
          <p:nvPr/>
        </p:nvSpPr>
        <p:spPr>
          <a:xfrm>
            <a:off x="6148313" y="1120968"/>
            <a:ext cx="4764137" cy="991490"/>
          </a:xfrm>
          <a:prstGeom prst="rect">
            <a:avLst/>
          </a:prstGeom>
        </p:spPr>
        <p:txBody>
          <a:bodyPr lIns="0" tIns="0" rIns="0" bIns="0" rtlCol="0" anchor="t">
            <a:spAutoFit/>
          </a:bodyPr>
          <a:lstStyle/>
          <a:p>
            <a:pPr algn="ctr">
              <a:lnSpc>
                <a:spcPts val="8400"/>
              </a:lnSpc>
              <a:spcBef>
                <a:spcPct val="0"/>
              </a:spcBef>
            </a:pPr>
            <a:r>
              <a:rPr lang="en-US" sz="6000" dirty="0">
                <a:solidFill>
                  <a:srgbClr val="FFFFFF"/>
                </a:solidFill>
                <a:latin typeface="Calisto MT" panose="02040603050505030304" pitchFamily="18" charset="0"/>
                <a:ea typeface="Times New Roman"/>
                <a:cs typeface="Times New Roman"/>
                <a:sym typeface="Times New Roman"/>
              </a:rPr>
              <a:t>OBJECTIVES</a:t>
            </a:r>
          </a:p>
        </p:txBody>
      </p:sp>
      <p:sp>
        <p:nvSpPr>
          <p:cNvPr id="4" name="Freeform 4"/>
          <p:cNvSpPr/>
          <p:nvPr/>
        </p:nvSpPr>
        <p:spPr>
          <a:xfrm rot="-5319799" flipH="1" flipV="1">
            <a:off x="-854611" y="-3988754"/>
            <a:ext cx="4147622" cy="7839148"/>
          </a:xfrm>
          <a:custGeom>
            <a:avLst/>
            <a:gdLst/>
            <a:ahLst/>
            <a:cxnLst/>
            <a:rect l="l" t="t" r="r" b="b"/>
            <a:pathLst>
              <a:path w="4147622" h="7839148">
                <a:moveTo>
                  <a:pt x="4147622" y="7839149"/>
                </a:moveTo>
                <a:lnTo>
                  <a:pt x="0" y="7839149"/>
                </a:lnTo>
                <a:lnTo>
                  <a:pt x="0" y="0"/>
                </a:lnTo>
                <a:lnTo>
                  <a:pt x="4147622" y="0"/>
                </a:lnTo>
                <a:lnTo>
                  <a:pt x="4147622" y="7839149"/>
                </a:lnTo>
                <a:close/>
              </a:path>
            </a:pathLst>
          </a:custGeom>
          <a:blipFill>
            <a:blip r:embed="rId2">
              <a:alphaModFix amt="50000"/>
              <a:extLst>
                <a:ext uri="{96DAC541-7B7A-43D3-8B79-37D633B846F1}">
                  <asvg:svgBlip xmlns:asvg="http://schemas.microsoft.com/office/drawing/2016/SVG/main" xmlns="" r:embed="rId3"/>
                </a:ext>
              </a:extLst>
            </a:blip>
            <a:stretch>
              <a:fillRect/>
            </a:stretch>
          </a:blipFill>
        </p:spPr>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43E63"/>
        </a:solidFill>
        <a:effectLst/>
      </p:bgPr>
    </p:bg>
    <p:spTree>
      <p:nvGrpSpPr>
        <p:cNvPr id="1" name=""/>
        <p:cNvGrpSpPr/>
        <p:nvPr/>
      </p:nvGrpSpPr>
      <p:grpSpPr>
        <a:xfrm>
          <a:off x="0" y="0"/>
          <a:ext cx="0" cy="0"/>
          <a:chOff x="0" y="0"/>
          <a:chExt cx="0" cy="0"/>
        </a:xfrm>
      </p:grpSpPr>
      <p:grpSp>
        <p:nvGrpSpPr>
          <p:cNvPr id="4" name="Group 4"/>
          <p:cNvGrpSpPr/>
          <p:nvPr/>
        </p:nvGrpSpPr>
        <p:grpSpPr>
          <a:xfrm>
            <a:off x="1219200" y="9796884"/>
            <a:ext cx="40903" cy="40903"/>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EAD2"/>
            </a:solidFill>
          </p:spPr>
        </p:sp>
        <p:sp>
          <p:nvSpPr>
            <p:cNvPr id="6" name="TextBox 6"/>
            <p:cNvSpPr txBox="1"/>
            <p:nvPr/>
          </p:nvSpPr>
          <p:spPr>
            <a:xfrm>
              <a:off x="76200" y="38100"/>
              <a:ext cx="660400" cy="698500"/>
            </a:xfrm>
            <a:prstGeom prst="rect">
              <a:avLst/>
            </a:prstGeom>
          </p:spPr>
          <p:txBody>
            <a:bodyPr lIns="74078" tIns="74078" rIns="74078" bIns="74078" rtlCol="0" anchor="ctr"/>
            <a:lstStyle/>
            <a:p>
              <a:pPr algn="ctr">
                <a:lnSpc>
                  <a:spcPts val="2659"/>
                </a:lnSpc>
              </a:pPr>
              <a:endParaRPr/>
            </a:p>
          </p:txBody>
        </p:sp>
      </p:grpSp>
      <p:sp>
        <p:nvSpPr>
          <p:cNvPr id="7" name="AutoShape 7"/>
          <p:cNvSpPr/>
          <p:nvPr/>
        </p:nvSpPr>
        <p:spPr>
          <a:xfrm flipV="1">
            <a:off x="11502149" y="3304894"/>
            <a:ext cx="5452060" cy="0"/>
          </a:xfrm>
          <a:prstGeom prst="line">
            <a:avLst/>
          </a:prstGeom>
          <a:ln w="28575" cap="flat">
            <a:solidFill>
              <a:srgbClr val="5CEAD2"/>
            </a:solidFill>
            <a:prstDash val="solid"/>
            <a:headEnd type="none" w="sm" len="sm"/>
            <a:tailEnd type="none" w="sm" len="sm"/>
          </a:ln>
        </p:spPr>
      </p:sp>
      <p:sp>
        <p:nvSpPr>
          <p:cNvPr id="8" name="AutoShape 8"/>
          <p:cNvSpPr/>
          <p:nvPr/>
        </p:nvSpPr>
        <p:spPr>
          <a:xfrm>
            <a:off x="11502149" y="3976460"/>
            <a:ext cx="5452060" cy="0"/>
          </a:xfrm>
          <a:prstGeom prst="line">
            <a:avLst/>
          </a:prstGeom>
          <a:ln w="28575" cap="flat">
            <a:solidFill>
              <a:srgbClr val="5CEAD2"/>
            </a:solidFill>
            <a:prstDash val="solid"/>
            <a:headEnd type="none" w="sm" len="sm"/>
            <a:tailEnd type="none" w="sm" len="sm"/>
          </a:ln>
        </p:spPr>
      </p:sp>
      <p:sp>
        <p:nvSpPr>
          <p:cNvPr id="9" name="AutoShape 9"/>
          <p:cNvSpPr/>
          <p:nvPr/>
        </p:nvSpPr>
        <p:spPr>
          <a:xfrm>
            <a:off x="11502149" y="4648026"/>
            <a:ext cx="5452060" cy="0"/>
          </a:xfrm>
          <a:prstGeom prst="line">
            <a:avLst/>
          </a:prstGeom>
          <a:ln w="28575" cap="flat">
            <a:solidFill>
              <a:srgbClr val="5CEAD2"/>
            </a:solidFill>
            <a:prstDash val="solid"/>
            <a:headEnd type="none" w="sm" len="sm"/>
            <a:tailEnd type="none" w="sm" len="sm"/>
          </a:ln>
        </p:spPr>
      </p:sp>
      <p:sp>
        <p:nvSpPr>
          <p:cNvPr id="10" name="AutoShape 10"/>
          <p:cNvSpPr/>
          <p:nvPr/>
        </p:nvSpPr>
        <p:spPr>
          <a:xfrm>
            <a:off x="11502149" y="5319592"/>
            <a:ext cx="5452060" cy="0"/>
          </a:xfrm>
          <a:prstGeom prst="line">
            <a:avLst/>
          </a:prstGeom>
          <a:ln w="28575" cap="flat">
            <a:solidFill>
              <a:srgbClr val="5CEAD2"/>
            </a:solidFill>
            <a:prstDash val="solid"/>
            <a:headEnd type="none" w="sm" len="sm"/>
            <a:tailEnd type="none" w="sm" len="sm"/>
          </a:ln>
        </p:spPr>
      </p:sp>
      <p:sp>
        <p:nvSpPr>
          <p:cNvPr id="11" name="AutoShape 11"/>
          <p:cNvSpPr/>
          <p:nvPr/>
        </p:nvSpPr>
        <p:spPr>
          <a:xfrm>
            <a:off x="11502149" y="5991157"/>
            <a:ext cx="5452060" cy="0"/>
          </a:xfrm>
          <a:prstGeom prst="line">
            <a:avLst/>
          </a:prstGeom>
          <a:ln w="28575" cap="flat">
            <a:solidFill>
              <a:srgbClr val="5CEAD2"/>
            </a:solidFill>
            <a:prstDash val="solid"/>
            <a:headEnd type="none" w="sm" len="sm"/>
            <a:tailEnd type="none" w="sm" len="sm"/>
          </a:ln>
        </p:spPr>
      </p:sp>
      <p:sp>
        <p:nvSpPr>
          <p:cNvPr id="12" name="AutoShape 12"/>
          <p:cNvSpPr/>
          <p:nvPr/>
        </p:nvSpPr>
        <p:spPr>
          <a:xfrm>
            <a:off x="11518789" y="6667500"/>
            <a:ext cx="5452060" cy="0"/>
          </a:xfrm>
          <a:prstGeom prst="line">
            <a:avLst/>
          </a:prstGeom>
          <a:ln w="28575" cap="flat">
            <a:solidFill>
              <a:srgbClr val="5CEAD2"/>
            </a:solidFill>
            <a:prstDash val="solid"/>
            <a:headEnd type="none" w="sm" len="sm"/>
            <a:tailEnd type="none" w="sm" len="sm"/>
          </a:ln>
        </p:spPr>
      </p:sp>
      <p:sp>
        <p:nvSpPr>
          <p:cNvPr id="13" name="TextBox 13"/>
          <p:cNvSpPr txBox="1"/>
          <p:nvPr/>
        </p:nvSpPr>
        <p:spPr>
          <a:xfrm>
            <a:off x="11502149" y="2557424"/>
            <a:ext cx="4886606" cy="4308872"/>
          </a:xfrm>
          <a:prstGeom prst="rect">
            <a:avLst/>
          </a:prstGeom>
        </p:spPr>
        <p:txBody>
          <a:bodyPr lIns="0" tIns="0" rIns="0" bIns="0" rtlCol="0" anchor="t">
            <a:spAutoFit/>
          </a:bodyPr>
          <a:lstStyle/>
          <a:p>
            <a:pPr>
              <a:lnSpc>
                <a:spcPts val="5599"/>
              </a:lnSpc>
            </a:pPr>
            <a:r>
              <a:rPr lang="en-US" sz="4000" dirty="0" smtClean="0">
                <a:solidFill>
                  <a:schemeClr val="bg1"/>
                </a:solidFill>
                <a:latin typeface="Calisto MT" panose="02040603050505030304" pitchFamily="18" charset="0"/>
              </a:rPr>
              <a:t>Methodology</a:t>
            </a:r>
          </a:p>
          <a:p>
            <a:pPr>
              <a:lnSpc>
                <a:spcPts val="5599"/>
              </a:lnSpc>
            </a:pPr>
            <a:r>
              <a:rPr lang="en-US" sz="4000" dirty="0" smtClean="0">
                <a:solidFill>
                  <a:schemeClr val="bg1"/>
                </a:solidFill>
                <a:latin typeface="Calisto MT" panose="02040603050505030304" pitchFamily="18" charset="0"/>
              </a:rPr>
              <a:t> </a:t>
            </a:r>
            <a:r>
              <a:rPr lang="en-US" sz="4000" dirty="0">
                <a:solidFill>
                  <a:schemeClr val="bg1"/>
                </a:solidFill>
                <a:latin typeface="Calisto MT" panose="02040603050505030304" pitchFamily="18" charset="0"/>
              </a:rPr>
              <a:t>1.Data </a:t>
            </a:r>
            <a:r>
              <a:rPr lang="en-US" sz="4000" dirty="0" smtClean="0">
                <a:solidFill>
                  <a:schemeClr val="bg1"/>
                </a:solidFill>
                <a:latin typeface="Calisto MT" panose="02040603050505030304" pitchFamily="18" charset="0"/>
              </a:rPr>
              <a:t>Preparation </a:t>
            </a:r>
          </a:p>
          <a:p>
            <a:pPr>
              <a:lnSpc>
                <a:spcPts val="5599"/>
              </a:lnSpc>
            </a:pPr>
            <a:r>
              <a:rPr lang="en-US" sz="4000" dirty="0" smtClean="0">
                <a:solidFill>
                  <a:schemeClr val="bg1"/>
                </a:solidFill>
                <a:latin typeface="Calisto MT" panose="02040603050505030304" pitchFamily="18" charset="0"/>
              </a:rPr>
              <a:t>2</a:t>
            </a:r>
            <a:r>
              <a:rPr lang="en-US" sz="4000" dirty="0">
                <a:solidFill>
                  <a:schemeClr val="bg1"/>
                </a:solidFill>
                <a:latin typeface="Calisto MT" panose="02040603050505030304" pitchFamily="18" charset="0"/>
              </a:rPr>
              <a:t>. Patient </a:t>
            </a:r>
            <a:r>
              <a:rPr lang="en-US" sz="4000" dirty="0" smtClean="0">
                <a:solidFill>
                  <a:schemeClr val="bg1"/>
                </a:solidFill>
                <a:latin typeface="Calisto MT" panose="02040603050505030304" pitchFamily="18" charset="0"/>
              </a:rPr>
              <a:t>&amp;  Department Analysis</a:t>
            </a:r>
          </a:p>
          <a:p>
            <a:pPr>
              <a:lnSpc>
                <a:spcPts val="5599"/>
              </a:lnSpc>
            </a:pPr>
            <a:r>
              <a:rPr lang="en-US" sz="4000" dirty="0" smtClean="0">
                <a:solidFill>
                  <a:schemeClr val="bg1"/>
                </a:solidFill>
                <a:latin typeface="Calisto MT" panose="02040603050505030304" pitchFamily="18" charset="0"/>
              </a:rPr>
              <a:t>3</a:t>
            </a:r>
            <a:r>
              <a:rPr lang="en-US" sz="4000" dirty="0">
                <a:solidFill>
                  <a:schemeClr val="bg1"/>
                </a:solidFill>
                <a:latin typeface="Calisto MT" panose="02040603050505030304" pitchFamily="18" charset="0"/>
              </a:rPr>
              <a:t>. Financial </a:t>
            </a:r>
            <a:r>
              <a:rPr lang="en-US" sz="4000" dirty="0" smtClean="0">
                <a:solidFill>
                  <a:schemeClr val="bg1"/>
                </a:solidFill>
                <a:latin typeface="Calisto MT" panose="02040603050505030304" pitchFamily="18" charset="0"/>
              </a:rPr>
              <a:t>Insights</a:t>
            </a:r>
          </a:p>
          <a:p>
            <a:pPr>
              <a:lnSpc>
                <a:spcPts val="5599"/>
              </a:lnSpc>
            </a:pPr>
            <a:r>
              <a:rPr lang="en-US" sz="4000" dirty="0" smtClean="0">
                <a:solidFill>
                  <a:schemeClr val="bg1"/>
                </a:solidFill>
                <a:latin typeface="Calisto MT" panose="02040603050505030304" pitchFamily="18" charset="0"/>
              </a:rPr>
              <a:t>4</a:t>
            </a:r>
            <a:r>
              <a:rPr lang="en-US" sz="4000" dirty="0">
                <a:solidFill>
                  <a:schemeClr val="bg1"/>
                </a:solidFill>
                <a:latin typeface="Calisto MT" panose="02040603050505030304" pitchFamily="18" charset="0"/>
              </a:rPr>
              <a:t>. Recommendations</a:t>
            </a:r>
            <a:endParaRPr lang="en-US" sz="4000" dirty="0">
              <a:solidFill>
                <a:schemeClr val="bg1"/>
              </a:solidFill>
              <a:latin typeface="Calisto MT" panose="02040603050505030304" pitchFamily="18" charset="0"/>
              <a:ea typeface="Times New Roman"/>
              <a:cs typeface="Times New Roman"/>
              <a:sym typeface="Times New Roman"/>
            </a:endParaRPr>
          </a:p>
        </p:txBody>
      </p:sp>
      <p:sp>
        <p:nvSpPr>
          <p:cNvPr id="17" name="TextBox 17"/>
          <p:cNvSpPr txBox="1"/>
          <p:nvPr/>
        </p:nvSpPr>
        <p:spPr>
          <a:xfrm>
            <a:off x="11518789" y="4638675"/>
            <a:ext cx="5757151" cy="658835"/>
          </a:xfrm>
          <a:prstGeom prst="rect">
            <a:avLst/>
          </a:prstGeom>
        </p:spPr>
        <p:txBody>
          <a:bodyPr lIns="0" tIns="0" rIns="0" bIns="0" rtlCol="0" anchor="t">
            <a:spAutoFit/>
          </a:bodyPr>
          <a:lstStyle/>
          <a:p>
            <a:pPr algn="l">
              <a:lnSpc>
                <a:spcPts val="5599"/>
              </a:lnSpc>
            </a:pPr>
            <a:r>
              <a:rPr lang="en-US" sz="3999" dirty="0">
                <a:solidFill>
                  <a:srgbClr val="FFFFFF"/>
                </a:solidFill>
                <a:latin typeface="Times New Roman"/>
                <a:ea typeface="Times New Roman"/>
                <a:cs typeface="Times New Roman"/>
                <a:sym typeface="Times New Roman"/>
              </a:rPr>
              <a:t> </a:t>
            </a:r>
          </a:p>
        </p:txBody>
      </p:sp>
      <p:pic>
        <p:nvPicPr>
          <p:cNvPr id="19" name="Picture 1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1858" y="1834040"/>
            <a:ext cx="10058400" cy="57556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43E63"/>
        </a:solidFill>
        <a:effectLst/>
      </p:bgPr>
    </p:bg>
    <p:spTree>
      <p:nvGrpSpPr>
        <p:cNvPr id="1" name=""/>
        <p:cNvGrpSpPr/>
        <p:nvPr/>
      </p:nvGrpSpPr>
      <p:grpSpPr>
        <a:xfrm>
          <a:off x="0" y="0"/>
          <a:ext cx="0" cy="0"/>
          <a:chOff x="0" y="0"/>
          <a:chExt cx="0" cy="0"/>
        </a:xfrm>
      </p:grpSpPr>
      <p:sp>
        <p:nvSpPr>
          <p:cNvPr id="2" name="TextBox 2"/>
          <p:cNvSpPr txBox="1"/>
          <p:nvPr/>
        </p:nvSpPr>
        <p:spPr>
          <a:xfrm>
            <a:off x="381000" y="1554347"/>
            <a:ext cx="7467600" cy="8168903"/>
          </a:xfrm>
          <a:prstGeom prst="rect">
            <a:avLst/>
          </a:prstGeom>
        </p:spPr>
        <p:txBody>
          <a:bodyPr wrap="square" lIns="0" tIns="0" rIns="0" bIns="0" rtlCol="0" anchor="t">
            <a:spAutoFit/>
          </a:bodyPr>
          <a:lstStyle/>
          <a:p>
            <a:pPr marL="377826" lvl="1">
              <a:lnSpc>
                <a:spcPts val="4900"/>
              </a:lnSpc>
            </a:pPr>
            <a:r>
              <a:rPr lang="en-IN" sz="4400" dirty="0">
                <a:solidFill>
                  <a:schemeClr val="bg1"/>
                </a:solidFill>
                <a:latin typeface="Calisto MT" panose="02040603050505030304" pitchFamily="18" charset="0"/>
              </a:rPr>
              <a:t>Key Insights</a:t>
            </a:r>
            <a:r>
              <a:rPr lang="en-IN" sz="3600" dirty="0" smtClean="0">
                <a:solidFill>
                  <a:schemeClr val="bg1"/>
                </a:solidFill>
                <a:latin typeface="Calisto MT" panose="02040603050505030304" pitchFamily="18" charset="0"/>
              </a:rPr>
              <a:t>:</a:t>
            </a:r>
            <a:endParaRPr lang="en-US" sz="3600" dirty="0">
              <a:solidFill>
                <a:schemeClr val="bg1"/>
              </a:solidFill>
              <a:latin typeface="Calisto MT" panose="02040603050505030304" pitchFamily="18" charset="0"/>
              <a:ea typeface="Times New Roman"/>
              <a:cs typeface="Times New Roman"/>
              <a:sym typeface="Times New Roman"/>
            </a:endParaRPr>
          </a:p>
          <a:p>
            <a:pPr marL="949326" lvl="1" indent="-571500">
              <a:lnSpc>
                <a:spcPts val="4900"/>
              </a:lnSpc>
              <a:buFont typeface="Courier New" panose="02070309020205020404" pitchFamily="49" charset="0"/>
              <a:buChar char="o"/>
            </a:pPr>
            <a:r>
              <a:rPr lang="en-US" sz="3200" dirty="0">
                <a:solidFill>
                  <a:schemeClr val="bg1"/>
                </a:solidFill>
                <a:latin typeface="Calisto MT" panose="02040603050505030304" pitchFamily="18" charset="0"/>
              </a:rPr>
              <a:t>Orthopedics and General Practice are the top revenue-generating departments, contributing the highest share to the hospital’s overall income indicating strong patient demand and service utilization in these areas. </a:t>
            </a:r>
            <a:endParaRPr lang="en-US" sz="3200" dirty="0" smtClean="0">
              <a:solidFill>
                <a:schemeClr val="bg1"/>
              </a:solidFill>
              <a:latin typeface="Calisto MT" panose="02040603050505030304" pitchFamily="18" charset="0"/>
            </a:endParaRPr>
          </a:p>
          <a:p>
            <a:pPr marL="949326" lvl="1" indent="-571500">
              <a:lnSpc>
                <a:spcPts val="4900"/>
              </a:lnSpc>
              <a:buFont typeface="Courier New" panose="02070309020205020404" pitchFamily="49" charset="0"/>
              <a:buChar char="o"/>
            </a:pPr>
            <a:r>
              <a:rPr lang="en-US" sz="3200" dirty="0" smtClean="0">
                <a:solidFill>
                  <a:schemeClr val="bg1"/>
                </a:solidFill>
                <a:latin typeface="Calisto MT" panose="02040603050505030304" pitchFamily="18" charset="0"/>
              </a:rPr>
              <a:t>Renal </a:t>
            </a:r>
            <a:r>
              <a:rPr lang="en-US" sz="3200" dirty="0">
                <a:solidFill>
                  <a:schemeClr val="bg1"/>
                </a:solidFill>
                <a:latin typeface="Calisto MT" panose="02040603050505030304" pitchFamily="18" charset="0"/>
              </a:rPr>
              <a:t>and Gastroenterology generate the least revenue, suggesting either lower patient inflow or limited service offerings, which may require further review or targeted improvement strategies</a:t>
            </a:r>
            <a:r>
              <a:rPr lang="en-US" sz="3600" dirty="0">
                <a:solidFill>
                  <a:schemeClr val="bg1"/>
                </a:solidFill>
                <a:latin typeface="Calisto MT" panose="02040603050505030304" pitchFamily="18" charset="0"/>
              </a:rPr>
              <a:t>. </a:t>
            </a:r>
            <a:endParaRPr lang="en-US" sz="3500" dirty="0">
              <a:solidFill>
                <a:schemeClr val="bg1"/>
              </a:solidFill>
              <a:latin typeface="Calisto MT" panose="02040603050505030304" pitchFamily="18" charset="0"/>
              <a:ea typeface="Times New Roman"/>
              <a:cs typeface="Times New Roman"/>
              <a:sym typeface="Times New Roman"/>
            </a:endParaRPr>
          </a:p>
        </p:txBody>
      </p:sp>
      <p:sp>
        <p:nvSpPr>
          <p:cNvPr id="3" name="TextBox 3"/>
          <p:cNvSpPr txBox="1"/>
          <p:nvPr/>
        </p:nvSpPr>
        <p:spPr>
          <a:xfrm>
            <a:off x="3657600" y="266700"/>
            <a:ext cx="10515599" cy="1008994"/>
          </a:xfrm>
          <a:prstGeom prst="rect">
            <a:avLst/>
          </a:prstGeom>
        </p:spPr>
        <p:txBody>
          <a:bodyPr wrap="square" lIns="0" tIns="0" rIns="0" bIns="0" rtlCol="0" anchor="t">
            <a:spAutoFit/>
          </a:bodyPr>
          <a:lstStyle/>
          <a:p>
            <a:pPr algn="ctr">
              <a:lnSpc>
                <a:spcPts val="8400"/>
              </a:lnSpc>
              <a:spcBef>
                <a:spcPct val="0"/>
              </a:spcBef>
            </a:pPr>
            <a:r>
              <a:rPr lang="en-IN" sz="6600" b="1" dirty="0">
                <a:solidFill>
                  <a:schemeClr val="bg1"/>
                </a:solidFill>
                <a:latin typeface="Calisto MT" panose="02040603050505030304" pitchFamily="18" charset="0"/>
              </a:rPr>
              <a:t>Department Wise Revenue</a:t>
            </a:r>
            <a:endParaRPr lang="en-US" sz="6600" b="1" dirty="0">
              <a:solidFill>
                <a:schemeClr val="bg1"/>
              </a:solidFill>
              <a:latin typeface="Calisto MT" panose="02040603050505030304" pitchFamily="18" charset="0"/>
              <a:ea typeface="Times New Roman"/>
              <a:cs typeface="Times New Roman"/>
              <a:sym typeface="Times New Roman"/>
            </a:endParaRPr>
          </a:p>
        </p:txBody>
      </p:sp>
      <p:sp>
        <p:nvSpPr>
          <p:cNvPr id="4" name="Freeform 4"/>
          <p:cNvSpPr/>
          <p:nvPr/>
        </p:nvSpPr>
        <p:spPr>
          <a:xfrm rot="-5319799" flipH="1" flipV="1">
            <a:off x="-854611" y="-3988754"/>
            <a:ext cx="4147622" cy="7839148"/>
          </a:xfrm>
          <a:custGeom>
            <a:avLst/>
            <a:gdLst/>
            <a:ahLst/>
            <a:cxnLst/>
            <a:rect l="l" t="t" r="r" b="b"/>
            <a:pathLst>
              <a:path w="4147622" h="7839148">
                <a:moveTo>
                  <a:pt x="4147622" y="7839149"/>
                </a:moveTo>
                <a:lnTo>
                  <a:pt x="0" y="7839149"/>
                </a:lnTo>
                <a:lnTo>
                  <a:pt x="0" y="0"/>
                </a:lnTo>
                <a:lnTo>
                  <a:pt x="4147622" y="0"/>
                </a:lnTo>
                <a:lnTo>
                  <a:pt x="4147622" y="7839149"/>
                </a:lnTo>
                <a:close/>
              </a:path>
            </a:pathLst>
          </a:custGeom>
          <a:blipFill>
            <a:blip r:embed="rId2">
              <a:alphaModFix amt="50000"/>
              <a:extLst>
                <a:ext uri="{96DAC541-7B7A-43D3-8B79-37D633B846F1}">
                  <asvg:svgBlip xmlns:asvg="http://schemas.microsoft.com/office/drawing/2016/SVG/main" xmlns="" r:embed="rId3"/>
                </a:ext>
              </a:extLst>
            </a:blip>
            <a:stretch>
              <a:fillRect/>
            </a:stretch>
          </a:blipFill>
        </p:spPr>
      </p:sp>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05800" y="2476500"/>
            <a:ext cx="9580418" cy="594121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43E63"/>
        </a:solidFill>
        <a:effectLst/>
      </p:bgPr>
    </p:bg>
    <p:spTree>
      <p:nvGrpSpPr>
        <p:cNvPr id="1" name=""/>
        <p:cNvGrpSpPr/>
        <p:nvPr/>
      </p:nvGrpSpPr>
      <p:grpSpPr>
        <a:xfrm>
          <a:off x="0" y="0"/>
          <a:ext cx="0" cy="0"/>
          <a:chOff x="0" y="0"/>
          <a:chExt cx="0" cy="0"/>
        </a:xfrm>
      </p:grpSpPr>
      <p:sp>
        <p:nvSpPr>
          <p:cNvPr id="2" name="TextBox 2"/>
          <p:cNvSpPr txBox="1"/>
          <p:nvPr/>
        </p:nvSpPr>
        <p:spPr>
          <a:xfrm>
            <a:off x="1198880" y="1390661"/>
            <a:ext cx="7906727" cy="8797280"/>
          </a:xfrm>
          <a:prstGeom prst="rect">
            <a:avLst/>
          </a:prstGeom>
        </p:spPr>
        <p:txBody>
          <a:bodyPr wrap="square" lIns="0" tIns="0" rIns="0" bIns="0" rtlCol="0" anchor="t">
            <a:spAutoFit/>
          </a:bodyPr>
          <a:lstStyle/>
          <a:p>
            <a:pPr>
              <a:lnSpc>
                <a:spcPts val="4900"/>
              </a:lnSpc>
            </a:pPr>
            <a:r>
              <a:rPr lang="en-IN" sz="2800" dirty="0">
                <a:solidFill>
                  <a:schemeClr val="bg1"/>
                </a:solidFill>
                <a:latin typeface="Calisto MT" panose="02040603050505030304" pitchFamily="18" charset="0"/>
              </a:rPr>
              <a:t>Key Insights</a:t>
            </a:r>
            <a:r>
              <a:rPr lang="en-IN" sz="2800" dirty="0" smtClean="0">
                <a:solidFill>
                  <a:schemeClr val="bg1"/>
                </a:solidFill>
                <a:latin typeface="Calisto MT" panose="02040603050505030304" pitchFamily="18" charset="0"/>
              </a:rPr>
              <a:t>:</a:t>
            </a:r>
          </a:p>
          <a:p>
            <a:pPr marL="571500" indent="-571500">
              <a:lnSpc>
                <a:spcPts val="4900"/>
              </a:lnSpc>
              <a:buFont typeface="Courier New" panose="02070309020205020404" pitchFamily="49" charset="0"/>
              <a:buChar char="o"/>
            </a:pPr>
            <a:r>
              <a:rPr lang="en-US" sz="2800" dirty="0">
                <a:solidFill>
                  <a:schemeClr val="bg1"/>
                </a:solidFill>
                <a:latin typeface="Calisto MT" panose="02040603050505030304" pitchFamily="18" charset="0"/>
              </a:rPr>
              <a:t>The numbers look a little low, right? That’s because during data cleaning, it was found that around 72% of patient satisfaction scores were missing possibly due to incomplete survey submissions, unrecorded feedback from emergency visits, or manual entry gaps in the hospital system</a:t>
            </a:r>
            <a:r>
              <a:rPr lang="en-US" sz="2800" dirty="0" smtClean="0">
                <a:solidFill>
                  <a:schemeClr val="bg1"/>
                </a:solidFill>
                <a:latin typeface="Calisto MT" panose="02040603050505030304" pitchFamily="18" charset="0"/>
              </a:rPr>
              <a:t>.</a:t>
            </a:r>
          </a:p>
          <a:p>
            <a:pPr marL="571500" indent="-571500">
              <a:lnSpc>
                <a:spcPts val="4900"/>
              </a:lnSpc>
              <a:buFont typeface="Courier New" panose="02070309020205020404" pitchFamily="49" charset="0"/>
              <a:buChar char="o"/>
            </a:pPr>
            <a:r>
              <a:rPr lang="en-US" sz="2800" dirty="0" smtClean="0">
                <a:solidFill>
                  <a:schemeClr val="bg1"/>
                </a:solidFill>
                <a:latin typeface="Calisto MT" panose="02040603050505030304" pitchFamily="18" charset="0"/>
              </a:rPr>
              <a:t>Even </a:t>
            </a:r>
            <a:r>
              <a:rPr lang="en-US" sz="2800" dirty="0">
                <a:solidFill>
                  <a:schemeClr val="bg1"/>
                </a:solidFill>
                <a:latin typeface="Calisto MT" panose="02040603050505030304" pitchFamily="18" charset="0"/>
              </a:rPr>
              <a:t>with limited data, we observed that patients aged 18–39 showed slightly higher satisfaction levels compared to other age groups, while racial differences were minimal, indicating fairly consistent patient experiences across demographics</a:t>
            </a:r>
            <a:endParaRPr lang="en-US" sz="2800" dirty="0">
              <a:solidFill>
                <a:schemeClr val="bg1"/>
              </a:solidFill>
              <a:latin typeface="Calisto MT" panose="02040603050505030304" pitchFamily="18" charset="0"/>
              <a:ea typeface="Times New Roman"/>
              <a:cs typeface="Times New Roman"/>
              <a:sym typeface="Times New Roman"/>
            </a:endParaRPr>
          </a:p>
        </p:txBody>
      </p:sp>
      <p:sp>
        <p:nvSpPr>
          <p:cNvPr id="3" name="TextBox 3"/>
          <p:cNvSpPr txBox="1"/>
          <p:nvPr/>
        </p:nvSpPr>
        <p:spPr>
          <a:xfrm>
            <a:off x="1214120" y="266700"/>
            <a:ext cx="16154400" cy="1009828"/>
          </a:xfrm>
          <a:prstGeom prst="rect">
            <a:avLst/>
          </a:prstGeom>
        </p:spPr>
        <p:txBody>
          <a:bodyPr wrap="square" lIns="0" tIns="0" rIns="0" bIns="0" rtlCol="0" anchor="t">
            <a:spAutoFit/>
          </a:bodyPr>
          <a:lstStyle/>
          <a:p>
            <a:pPr algn="ctr">
              <a:lnSpc>
                <a:spcPts val="8400"/>
              </a:lnSpc>
              <a:spcBef>
                <a:spcPct val="0"/>
              </a:spcBef>
            </a:pPr>
            <a:r>
              <a:rPr lang="en-US" sz="6600" dirty="0">
                <a:solidFill>
                  <a:schemeClr val="bg1"/>
                </a:solidFill>
                <a:latin typeface="Calisto MT" panose="02040603050505030304" pitchFamily="18" charset="0"/>
              </a:rPr>
              <a:t>Patient Satisfaction Analysis by Age &amp; Race </a:t>
            </a:r>
            <a:endParaRPr lang="en-US" sz="6600" dirty="0">
              <a:solidFill>
                <a:schemeClr val="bg1"/>
              </a:solidFill>
              <a:latin typeface="Calisto MT" panose="02040603050505030304" pitchFamily="18" charset="0"/>
              <a:ea typeface="Times New Roman"/>
              <a:cs typeface="Times New Roman"/>
              <a:sym typeface="Times New Roman"/>
            </a:endParaRPr>
          </a:p>
        </p:txBody>
      </p:sp>
      <p:sp>
        <p:nvSpPr>
          <p:cNvPr id="4" name="Freeform 4"/>
          <p:cNvSpPr/>
          <p:nvPr/>
        </p:nvSpPr>
        <p:spPr>
          <a:xfrm rot="-5319799" flipH="1" flipV="1">
            <a:off x="-854611" y="-3988754"/>
            <a:ext cx="4147622" cy="7839148"/>
          </a:xfrm>
          <a:custGeom>
            <a:avLst/>
            <a:gdLst/>
            <a:ahLst/>
            <a:cxnLst/>
            <a:rect l="l" t="t" r="r" b="b"/>
            <a:pathLst>
              <a:path w="4147622" h="7839148">
                <a:moveTo>
                  <a:pt x="4147622" y="7839149"/>
                </a:moveTo>
                <a:lnTo>
                  <a:pt x="0" y="7839149"/>
                </a:lnTo>
                <a:lnTo>
                  <a:pt x="0" y="0"/>
                </a:lnTo>
                <a:lnTo>
                  <a:pt x="4147622" y="0"/>
                </a:lnTo>
                <a:lnTo>
                  <a:pt x="4147622" y="7839149"/>
                </a:lnTo>
                <a:close/>
              </a:path>
            </a:pathLst>
          </a:custGeom>
          <a:blipFill>
            <a:blip r:embed="rId2">
              <a:alphaModFix amt="50000"/>
              <a:extLst>
                <a:ext uri="{96DAC541-7B7A-43D3-8B79-37D633B846F1}">
                  <asvg:svgBlip xmlns:asvg="http://schemas.microsoft.com/office/drawing/2016/SVG/main" xmlns="" r:embed="rId3"/>
                </a:ext>
              </a:extLst>
            </a:blip>
            <a:stretch>
              <a:fillRect/>
            </a:stretch>
          </a:blipFill>
        </p:spPr>
      </p:sp>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00526" y="2705100"/>
            <a:ext cx="9080339" cy="5486400"/>
          </a:xfrm>
          <a:prstGeom prst="rect">
            <a:avLst/>
          </a:prstGeom>
        </p:spPr>
      </p:pic>
    </p:spTree>
    <p:extLst>
      <p:ext uri="{BB962C8B-B14F-4D97-AF65-F5344CB8AC3E}">
        <p14:creationId xmlns:p14="http://schemas.microsoft.com/office/powerpoint/2010/main" val="3916524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43E63"/>
        </a:solidFill>
        <a:effectLst/>
      </p:bgPr>
    </p:bg>
    <p:spTree>
      <p:nvGrpSpPr>
        <p:cNvPr id="1" name=""/>
        <p:cNvGrpSpPr/>
        <p:nvPr/>
      </p:nvGrpSpPr>
      <p:grpSpPr>
        <a:xfrm>
          <a:off x="0" y="0"/>
          <a:ext cx="0" cy="0"/>
          <a:chOff x="0" y="0"/>
          <a:chExt cx="0" cy="0"/>
        </a:xfrm>
      </p:grpSpPr>
      <p:sp>
        <p:nvSpPr>
          <p:cNvPr id="3" name="TextBox 3"/>
          <p:cNvSpPr txBox="1"/>
          <p:nvPr/>
        </p:nvSpPr>
        <p:spPr>
          <a:xfrm>
            <a:off x="1975102" y="616585"/>
            <a:ext cx="12775109" cy="851643"/>
          </a:xfrm>
          <a:prstGeom prst="rect">
            <a:avLst/>
          </a:prstGeom>
        </p:spPr>
        <p:txBody>
          <a:bodyPr lIns="0" tIns="0" rIns="0" bIns="0" rtlCol="0" anchor="t">
            <a:spAutoFit/>
          </a:bodyPr>
          <a:lstStyle/>
          <a:p>
            <a:pPr algn="ctr">
              <a:lnSpc>
                <a:spcPts val="7000"/>
              </a:lnSpc>
              <a:spcBef>
                <a:spcPct val="0"/>
              </a:spcBef>
            </a:pPr>
            <a:r>
              <a:rPr lang="en-IN" sz="5400" dirty="0">
                <a:solidFill>
                  <a:schemeClr val="bg1"/>
                </a:solidFill>
                <a:latin typeface="Calisto MT" panose="02040603050505030304" pitchFamily="18" charset="0"/>
              </a:rPr>
              <a:t>Department Wise Patient Volume</a:t>
            </a:r>
            <a:endParaRPr lang="en-US" sz="5000" spc="395" dirty="0">
              <a:solidFill>
                <a:schemeClr val="bg1"/>
              </a:solidFill>
              <a:latin typeface="Calisto MT" panose="02040603050505030304" pitchFamily="18" charset="0"/>
              <a:ea typeface="Times New Roman"/>
              <a:cs typeface="Times New Roman"/>
              <a:sym typeface="Times New Roman"/>
            </a:endParaRPr>
          </a:p>
        </p:txBody>
      </p:sp>
      <p:sp>
        <p:nvSpPr>
          <p:cNvPr id="4" name="TextBox 4"/>
          <p:cNvSpPr txBox="1"/>
          <p:nvPr/>
        </p:nvSpPr>
        <p:spPr>
          <a:xfrm>
            <a:off x="838200" y="2705100"/>
            <a:ext cx="5410200" cy="6463308"/>
          </a:xfrm>
          <a:prstGeom prst="rect">
            <a:avLst/>
          </a:prstGeom>
        </p:spPr>
        <p:txBody>
          <a:bodyPr wrap="square" lIns="0" tIns="0" rIns="0" bIns="0" rtlCol="0" anchor="t">
            <a:spAutoFit/>
          </a:bodyPr>
          <a:lstStyle/>
          <a:p>
            <a:pPr marL="279712" lvl="1">
              <a:lnSpc>
                <a:spcPts val="3627"/>
              </a:lnSpc>
            </a:pPr>
            <a:r>
              <a:rPr lang="en-IN" sz="2800" dirty="0">
                <a:solidFill>
                  <a:schemeClr val="bg1"/>
                </a:solidFill>
              </a:rPr>
              <a:t>Key Insights: </a:t>
            </a:r>
            <a:endParaRPr lang="en-IN" sz="2800" dirty="0" smtClean="0">
              <a:solidFill>
                <a:schemeClr val="bg1"/>
              </a:solidFill>
            </a:endParaRPr>
          </a:p>
          <a:p>
            <a:pPr marL="736912" lvl="1" indent="-457200">
              <a:lnSpc>
                <a:spcPts val="3627"/>
              </a:lnSpc>
              <a:buFont typeface="Courier New" panose="02070309020205020404" pitchFamily="49" charset="0"/>
              <a:buChar char="o"/>
            </a:pPr>
            <a:r>
              <a:rPr lang="en-US" sz="2800" dirty="0">
                <a:solidFill>
                  <a:schemeClr val="bg1"/>
                </a:solidFill>
              </a:rPr>
              <a:t>General Practice receives the highest number of patient visits (7,240) indicating it is the most frequently consulted and high-demand department in the hospital. </a:t>
            </a:r>
            <a:endParaRPr lang="en-US" sz="2800" dirty="0" smtClean="0">
              <a:solidFill>
                <a:schemeClr val="bg1"/>
              </a:solidFill>
            </a:endParaRPr>
          </a:p>
          <a:p>
            <a:pPr marL="736912" lvl="1" indent="-457200">
              <a:lnSpc>
                <a:spcPts val="3627"/>
              </a:lnSpc>
              <a:buFont typeface="Courier New" panose="02070309020205020404" pitchFamily="49" charset="0"/>
              <a:buChar char="o"/>
            </a:pPr>
            <a:r>
              <a:rPr lang="en-US" sz="2800" dirty="0" smtClean="0">
                <a:solidFill>
                  <a:schemeClr val="bg1"/>
                </a:solidFill>
              </a:rPr>
              <a:t>Departments </a:t>
            </a:r>
            <a:r>
              <a:rPr lang="en-US" sz="2800" dirty="0">
                <a:solidFill>
                  <a:schemeClr val="bg1"/>
                </a:solidFill>
              </a:rPr>
              <a:t>like Renal and Gastroenterology record the lowest patient volumes, suggesting either limited service utilization or potential areas for improved awareness and outreach.</a:t>
            </a:r>
            <a:endParaRPr lang="en-IN" sz="2800" dirty="0">
              <a:solidFill>
                <a:schemeClr val="bg1"/>
              </a:solidFill>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96200" y="3162300"/>
            <a:ext cx="9784065" cy="571910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43E63"/>
        </a:solidFill>
        <a:effectLst/>
      </p:bgPr>
    </p:bg>
    <p:spTree>
      <p:nvGrpSpPr>
        <p:cNvPr id="1" name=""/>
        <p:cNvGrpSpPr/>
        <p:nvPr/>
      </p:nvGrpSpPr>
      <p:grpSpPr>
        <a:xfrm>
          <a:off x="0" y="0"/>
          <a:ext cx="0" cy="0"/>
          <a:chOff x="0" y="0"/>
          <a:chExt cx="0" cy="0"/>
        </a:xfrm>
      </p:grpSpPr>
      <p:sp>
        <p:nvSpPr>
          <p:cNvPr id="3" name="TextBox 3"/>
          <p:cNvSpPr txBox="1"/>
          <p:nvPr/>
        </p:nvSpPr>
        <p:spPr>
          <a:xfrm>
            <a:off x="2895600" y="391980"/>
            <a:ext cx="13137532" cy="897682"/>
          </a:xfrm>
          <a:prstGeom prst="rect">
            <a:avLst/>
          </a:prstGeom>
        </p:spPr>
        <p:txBody>
          <a:bodyPr wrap="square" lIns="0" tIns="0" rIns="0" bIns="0" rtlCol="0" anchor="t">
            <a:spAutoFit/>
          </a:bodyPr>
          <a:lstStyle/>
          <a:p>
            <a:pPr algn="ctr">
              <a:lnSpc>
                <a:spcPts val="7000"/>
              </a:lnSpc>
              <a:spcBef>
                <a:spcPct val="0"/>
              </a:spcBef>
            </a:pPr>
            <a:r>
              <a:rPr lang="en-IN" sz="5400" dirty="0">
                <a:solidFill>
                  <a:schemeClr val="bg1"/>
                </a:solidFill>
                <a:latin typeface="Calisto MT" panose="02040603050505030304" pitchFamily="18" charset="0"/>
              </a:rPr>
              <a:t>Patient Wait Time vs Satisfaction Analysis </a:t>
            </a:r>
            <a:endParaRPr lang="en-US" sz="5000" spc="395" dirty="0">
              <a:solidFill>
                <a:schemeClr val="bg1"/>
              </a:solidFill>
              <a:latin typeface="Calisto MT" panose="02040603050505030304" pitchFamily="18" charset="0"/>
              <a:ea typeface="Times New Roman"/>
              <a:cs typeface="Times New Roman"/>
              <a:sym typeface="Times New Roman"/>
            </a:endParaRPr>
          </a:p>
        </p:txBody>
      </p:sp>
      <p:sp>
        <p:nvSpPr>
          <p:cNvPr id="4" name="TextBox 4"/>
          <p:cNvSpPr txBox="1"/>
          <p:nvPr/>
        </p:nvSpPr>
        <p:spPr>
          <a:xfrm>
            <a:off x="9850861" y="2652505"/>
            <a:ext cx="7408439" cy="5924699"/>
          </a:xfrm>
          <a:prstGeom prst="rect">
            <a:avLst/>
          </a:prstGeom>
        </p:spPr>
        <p:txBody>
          <a:bodyPr lIns="0" tIns="0" rIns="0" bIns="0" rtlCol="0" anchor="t">
            <a:spAutoFit/>
          </a:bodyPr>
          <a:lstStyle/>
          <a:p>
            <a:pPr marL="321496" lvl="1">
              <a:lnSpc>
                <a:spcPts val="4169"/>
              </a:lnSpc>
            </a:pPr>
            <a:r>
              <a:rPr lang="en-IN" sz="3200" dirty="0">
                <a:solidFill>
                  <a:schemeClr val="bg1"/>
                </a:solidFill>
                <a:latin typeface="Calisto MT" panose="02040603050505030304" pitchFamily="18" charset="0"/>
              </a:rPr>
              <a:t>Key Insights: </a:t>
            </a:r>
            <a:endParaRPr lang="en-IN" sz="3200" dirty="0" smtClean="0">
              <a:solidFill>
                <a:schemeClr val="bg1"/>
              </a:solidFill>
              <a:latin typeface="Calisto MT" panose="02040603050505030304" pitchFamily="18" charset="0"/>
            </a:endParaRPr>
          </a:p>
          <a:p>
            <a:pPr marL="321496" lvl="1">
              <a:lnSpc>
                <a:spcPts val="4169"/>
              </a:lnSpc>
            </a:pPr>
            <a:r>
              <a:rPr lang="en-US" sz="3200" dirty="0">
                <a:solidFill>
                  <a:schemeClr val="bg1"/>
                </a:solidFill>
                <a:latin typeface="Calisto MT" panose="02040603050505030304" pitchFamily="18" charset="0"/>
              </a:rPr>
              <a:t>The </a:t>
            </a:r>
            <a:r>
              <a:rPr lang="en-US" sz="3200" dirty="0" smtClean="0">
                <a:solidFill>
                  <a:schemeClr val="bg1"/>
                </a:solidFill>
                <a:latin typeface="Calisto MT" panose="02040603050505030304" pitchFamily="18" charset="0"/>
              </a:rPr>
              <a:t>trend line </a:t>
            </a:r>
            <a:r>
              <a:rPr lang="en-US" sz="3200" dirty="0">
                <a:solidFill>
                  <a:schemeClr val="bg1"/>
                </a:solidFill>
                <a:latin typeface="Calisto MT" panose="02040603050505030304" pitchFamily="18" charset="0"/>
              </a:rPr>
              <a:t>shows a slight negative correlation between patient wait time and satisfaction score, indicating that longer waiting periods generally lead to lower patient satisfaction. However, the overall satisfaction scores remain low and scattered, suggesting that factors beyond wait time such as service quality or staff interaction may also influence patient experience</a:t>
            </a:r>
            <a:endParaRPr lang="en-US" sz="2978" spc="235" dirty="0">
              <a:solidFill>
                <a:schemeClr val="bg1"/>
              </a:solidFill>
              <a:latin typeface="Calisto MT" panose="02040603050505030304" pitchFamily="18" charset="0"/>
              <a:ea typeface="Public Sans"/>
              <a:cs typeface="Public Sans"/>
              <a:sym typeface="Public Sans"/>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 y="2619485"/>
            <a:ext cx="9698461" cy="559660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43E63"/>
        </a:solidFill>
        <a:effectLst/>
      </p:bgPr>
    </p:bg>
    <p:spTree>
      <p:nvGrpSpPr>
        <p:cNvPr id="1" name=""/>
        <p:cNvGrpSpPr/>
        <p:nvPr/>
      </p:nvGrpSpPr>
      <p:grpSpPr>
        <a:xfrm>
          <a:off x="0" y="0"/>
          <a:ext cx="0" cy="0"/>
          <a:chOff x="0" y="0"/>
          <a:chExt cx="0" cy="0"/>
        </a:xfrm>
      </p:grpSpPr>
      <p:sp>
        <p:nvSpPr>
          <p:cNvPr id="3" name="TextBox 3"/>
          <p:cNvSpPr txBox="1"/>
          <p:nvPr/>
        </p:nvSpPr>
        <p:spPr>
          <a:xfrm>
            <a:off x="4789753" y="527050"/>
            <a:ext cx="8599140" cy="851643"/>
          </a:xfrm>
          <a:prstGeom prst="rect">
            <a:avLst/>
          </a:prstGeom>
        </p:spPr>
        <p:txBody>
          <a:bodyPr lIns="0" tIns="0" rIns="0" bIns="0" rtlCol="0" anchor="t">
            <a:spAutoFit/>
          </a:bodyPr>
          <a:lstStyle/>
          <a:p>
            <a:pPr algn="ctr">
              <a:lnSpc>
                <a:spcPts val="7000"/>
              </a:lnSpc>
              <a:spcBef>
                <a:spcPct val="0"/>
              </a:spcBef>
            </a:pPr>
            <a:r>
              <a:rPr lang="en-IN" sz="5400" dirty="0">
                <a:solidFill>
                  <a:schemeClr val="bg1"/>
                </a:solidFill>
                <a:latin typeface="Calisto MT" panose="02040603050505030304" pitchFamily="18" charset="0"/>
              </a:rPr>
              <a:t>Discount Allocation Analysis </a:t>
            </a:r>
            <a:endParaRPr lang="en-US" sz="5000" spc="395" dirty="0">
              <a:solidFill>
                <a:schemeClr val="bg1"/>
              </a:solidFill>
              <a:latin typeface="Calisto MT" panose="02040603050505030304" pitchFamily="18" charset="0"/>
              <a:ea typeface="Times New Roman"/>
              <a:cs typeface="Times New Roman"/>
              <a:sym typeface="Times New Roman"/>
            </a:endParaRPr>
          </a:p>
        </p:txBody>
      </p:sp>
      <p:sp>
        <p:nvSpPr>
          <p:cNvPr id="4" name="TextBox 4"/>
          <p:cNvSpPr txBox="1"/>
          <p:nvPr/>
        </p:nvSpPr>
        <p:spPr>
          <a:xfrm>
            <a:off x="11895143" y="3206496"/>
            <a:ext cx="5943589" cy="5817490"/>
          </a:xfrm>
          <a:prstGeom prst="rect">
            <a:avLst/>
          </a:prstGeom>
        </p:spPr>
        <p:txBody>
          <a:bodyPr lIns="0" tIns="0" rIns="0" bIns="0" rtlCol="0" anchor="t">
            <a:spAutoFit/>
          </a:bodyPr>
          <a:lstStyle/>
          <a:p>
            <a:pPr marL="269874" lvl="1">
              <a:lnSpc>
                <a:spcPts val="3499"/>
              </a:lnSpc>
            </a:pPr>
            <a:r>
              <a:rPr lang="en-IN" sz="2800" dirty="0">
                <a:solidFill>
                  <a:schemeClr val="bg1"/>
                </a:solidFill>
              </a:rPr>
              <a:t>Key Insights: </a:t>
            </a:r>
            <a:endParaRPr lang="en-IN" sz="2800" dirty="0" smtClean="0">
              <a:solidFill>
                <a:schemeClr val="bg1"/>
              </a:solidFill>
            </a:endParaRPr>
          </a:p>
          <a:p>
            <a:pPr marL="269874" lvl="1">
              <a:lnSpc>
                <a:spcPts val="3499"/>
              </a:lnSpc>
            </a:pPr>
            <a:r>
              <a:rPr lang="en-US" sz="2800" dirty="0">
                <a:solidFill>
                  <a:schemeClr val="bg1"/>
                </a:solidFill>
              </a:rPr>
              <a:t>The discount allocation was primarily determined based on age group and revenue contribution, while average satisfaction score was considered only at a group level to maintain fairness and simplicity. The majority of patients fall under the Low discount category, indicating strongperforming age groups in terms of revenue, whereas High discounts were assigned to lower-revenue or less-engaged groups to encourage better participation</a:t>
            </a:r>
            <a:endParaRPr lang="en-US" sz="2499" spc="197" dirty="0">
              <a:solidFill>
                <a:schemeClr val="bg1"/>
              </a:solidFill>
              <a:ea typeface="Public Sans"/>
              <a:cs typeface="Public Sans"/>
              <a:sym typeface="Public Sans"/>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3009900"/>
            <a:ext cx="9466704" cy="62484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43E63"/>
        </a:solidFill>
        <a:effectLst/>
      </p:bgPr>
    </p:bg>
    <p:spTree>
      <p:nvGrpSpPr>
        <p:cNvPr id="1" name=""/>
        <p:cNvGrpSpPr/>
        <p:nvPr/>
      </p:nvGrpSpPr>
      <p:grpSpPr>
        <a:xfrm>
          <a:off x="0" y="0"/>
          <a:ext cx="0" cy="0"/>
          <a:chOff x="0" y="0"/>
          <a:chExt cx="0" cy="0"/>
        </a:xfrm>
      </p:grpSpPr>
      <p:sp>
        <p:nvSpPr>
          <p:cNvPr id="3" name="TextBox 3"/>
          <p:cNvSpPr txBox="1"/>
          <p:nvPr/>
        </p:nvSpPr>
        <p:spPr>
          <a:xfrm>
            <a:off x="2515986" y="828675"/>
            <a:ext cx="12724954" cy="851643"/>
          </a:xfrm>
          <a:prstGeom prst="rect">
            <a:avLst/>
          </a:prstGeom>
        </p:spPr>
        <p:txBody>
          <a:bodyPr lIns="0" tIns="0" rIns="0" bIns="0" rtlCol="0" anchor="t">
            <a:spAutoFit/>
          </a:bodyPr>
          <a:lstStyle/>
          <a:p>
            <a:pPr algn="ctr">
              <a:lnSpc>
                <a:spcPts val="7000"/>
              </a:lnSpc>
              <a:spcBef>
                <a:spcPct val="0"/>
              </a:spcBef>
            </a:pPr>
            <a:r>
              <a:rPr lang="en-IN" sz="5400" dirty="0">
                <a:solidFill>
                  <a:schemeClr val="bg1"/>
                </a:solidFill>
                <a:latin typeface="Calisto MT" panose="02040603050505030304" pitchFamily="18" charset="0"/>
              </a:rPr>
              <a:t>Recommendations</a:t>
            </a:r>
            <a:endParaRPr lang="en-US" sz="5000" spc="395" dirty="0">
              <a:solidFill>
                <a:schemeClr val="bg1"/>
              </a:solidFill>
              <a:latin typeface="Calisto MT" panose="02040603050505030304" pitchFamily="18" charset="0"/>
              <a:ea typeface="Times New Roman"/>
              <a:cs typeface="Times New Roman"/>
              <a:sym typeface="Times New Roman"/>
            </a:endParaRPr>
          </a:p>
        </p:txBody>
      </p:sp>
      <p:sp>
        <p:nvSpPr>
          <p:cNvPr id="4" name="TextBox 4"/>
          <p:cNvSpPr txBox="1"/>
          <p:nvPr/>
        </p:nvSpPr>
        <p:spPr>
          <a:xfrm>
            <a:off x="1659238" y="2665696"/>
            <a:ext cx="14114162" cy="3740961"/>
          </a:xfrm>
          <a:prstGeom prst="rect">
            <a:avLst/>
          </a:prstGeom>
        </p:spPr>
        <p:txBody>
          <a:bodyPr wrap="square" lIns="0" tIns="0" rIns="0" bIns="0" rtlCol="0" anchor="t">
            <a:spAutoFit/>
          </a:bodyPr>
          <a:lstStyle/>
          <a:p>
            <a:pPr marL="323850" lvl="1" algn="just">
              <a:lnSpc>
                <a:spcPts val="4200"/>
              </a:lnSpc>
            </a:pPr>
            <a:r>
              <a:rPr lang="en-US" sz="3200" dirty="0" smtClean="0">
                <a:solidFill>
                  <a:schemeClr val="bg1"/>
                </a:solidFill>
              </a:rPr>
              <a:t>1. Optimize </a:t>
            </a:r>
            <a:r>
              <a:rPr lang="en-US" sz="3200" dirty="0">
                <a:solidFill>
                  <a:schemeClr val="bg1"/>
                </a:solidFill>
              </a:rPr>
              <a:t>Doctor Allocation Across </a:t>
            </a:r>
            <a:r>
              <a:rPr lang="en-US" sz="3200" dirty="0" smtClean="0">
                <a:solidFill>
                  <a:schemeClr val="bg1"/>
                </a:solidFill>
              </a:rPr>
              <a:t>Departments</a:t>
            </a:r>
          </a:p>
          <a:p>
            <a:pPr marL="781050" lvl="1" indent="-457200" algn="just">
              <a:lnSpc>
                <a:spcPts val="4200"/>
              </a:lnSpc>
              <a:buFont typeface="Arial" panose="020B0604020202020204" pitchFamily="34" charset="0"/>
              <a:buChar char="•"/>
            </a:pPr>
            <a:r>
              <a:rPr lang="en-US" sz="3200" dirty="0">
                <a:solidFill>
                  <a:schemeClr val="bg1"/>
                </a:solidFill>
              </a:rPr>
              <a:t>Increase the number of doctors in high-revenue and high-demand departments to reduce workload and patient wait times</a:t>
            </a:r>
            <a:r>
              <a:rPr lang="en-US" sz="3200" dirty="0" smtClean="0">
                <a:solidFill>
                  <a:schemeClr val="bg1"/>
                </a:solidFill>
              </a:rPr>
              <a:t>.</a:t>
            </a:r>
          </a:p>
          <a:p>
            <a:pPr marL="781050" lvl="1" indent="-457200" algn="just">
              <a:lnSpc>
                <a:spcPts val="4200"/>
              </a:lnSpc>
              <a:buFont typeface="Arial" panose="020B0604020202020204" pitchFamily="34" charset="0"/>
              <a:buChar char="•"/>
            </a:pPr>
            <a:r>
              <a:rPr lang="en-US" sz="3200" dirty="0" smtClean="0">
                <a:solidFill>
                  <a:schemeClr val="bg1"/>
                </a:solidFill>
              </a:rPr>
              <a:t>Redistribute </a:t>
            </a:r>
            <a:r>
              <a:rPr lang="en-US" sz="3200" dirty="0">
                <a:solidFill>
                  <a:schemeClr val="bg1"/>
                </a:solidFill>
              </a:rPr>
              <a:t>staff from low-patient-volume departments to improve efficiency and service utilization</a:t>
            </a:r>
            <a:r>
              <a:rPr lang="en-US" sz="3200" dirty="0" smtClean="0">
                <a:solidFill>
                  <a:schemeClr val="bg1"/>
                </a:solidFill>
              </a:rPr>
              <a:t>.</a:t>
            </a:r>
          </a:p>
          <a:p>
            <a:pPr marL="781050" lvl="1" indent="-457200" algn="just">
              <a:lnSpc>
                <a:spcPts val="4200"/>
              </a:lnSpc>
              <a:buFont typeface="Arial" panose="020B0604020202020204" pitchFamily="34" charset="0"/>
              <a:buChar char="•"/>
            </a:pPr>
            <a:r>
              <a:rPr lang="en-US" sz="3200" dirty="0" smtClean="0">
                <a:solidFill>
                  <a:schemeClr val="bg1"/>
                </a:solidFill>
              </a:rPr>
              <a:t>Continuously </a:t>
            </a:r>
            <a:r>
              <a:rPr lang="en-US" sz="3200" dirty="0">
                <a:solidFill>
                  <a:schemeClr val="bg1"/>
                </a:solidFill>
              </a:rPr>
              <a:t>monitor patient flow trends to plan future hiring and ensure balanced department staffing. </a:t>
            </a:r>
            <a:endParaRPr lang="en-US" sz="3000" spc="237" dirty="0">
              <a:solidFill>
                <a:schemeClr val="bg1"/>
              </a:solidFill>
              <a:latin typeface="Public Sans"/>
              <a:ea typeface="Public Sans"/>
              <a:cs typeface="Public Sans"/>
              <a:sym typeface="Public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43E63"/>
        </a:solidFill>
        <a:effectLst/>
      </p:bgPr>
    </p:bg>
    <p:spTree>
      <p:nvGrpSpPr>
        <p:cNvPr id="1" name=""/>
        <p:cNvGrpSpPr/>
        <p:nvPr/>
      </p:nvGrpSpPr>
      <p:grpSpPr>
        <a:xfrm>
          <a:off x="0" y="0"/>
          <a:ext cx="0" cy="0"/>
          <a:chOff x="0" y="0"/>
          <a:chExt cx="0" cy="0"/>
        </a:xfrm>
      </p:grpSpPr>
      <p:sp>
        <p:nvSpPr>
          <p:cNvPr id="3" name="TextBox 3"/>
          <p:cNvSpPr txBox="1"/>
          <p:nvPr/>
        </p:nvSpPr>
        <p:spPr>
          <a:xfrm>
            <a:off x="3048229" y="828675"/>
            <a:ext cx="11705927" cy="838499"/>
          </a:xfrm>
          <a:prstGeom prst="rect">
            <a:avLst/>
          </a:prstGeom>
        </p:spPr>
        <p:txBody>
          <a:bodyPr lIns="0" tIns="0" rIns="0" bIns="0" rtlCol="0" anchor="t">
            <a:spAutoFit/>
          </a:bodyPr>
          <a:lstStyle/>
          <a:p>
            <a:pPr algn="ctr">
              <a:lnSpc>
                <a:spcPts val="7000"/>
              </a:lnSpc>
              <a:spcBef>
                <a:spcPct val="0"/>
              </a:spcBef>
            </a:pPr>
            <a:r>
              <a:rPr lang="en-IN" sz="4800" dirty="0">
                <a:solidFill>
                  <a:schemeClr val="bg1"/>
                </a:solidFill>
                <a:latin typeface="Calisto MT" panose="02040603050505030304" pitchFamily="18" charset="0"/>
              </a:rPr>
              <a:t>Recommendations</a:t>
            </a:r>
            <a:endParaRPr lang="en-US" sz="4800" spc="395" dirty="0">
              <a:solidFill>
                <a:schemeClr val="bg1"/>
              </a:solidFill>
              <a:latin typeface="Calisto MT" panose="02040603050505030304" pitchFamily="18" charset="0"/>
              <a:ea typeface="Times New Roman"/>
              <a:cs typeface="Times New Roman"/>
              <a:sym typeface="Times New Roman"/>
            </a:endParaRPr>
          </a:p>
        </p:txBody>
      </p:sp>
      <p:sp>
        <p:nvSpPr>
          <p:cNvPr id="4" name="TextBox 4"/>
          <p:cNvSpPr txBox="1"/>
          <p:nvPr/>
        </p:nvSpPr>
        <p:spPr>
          <a:xfrm>
            <a:off x="1667313" y="2985188"/>
            <a:ext cx="12963087" cy="3740961"/>
          </a:xfrm>
          <a:prstGeom prst="rect">
            <a:avLst/>
          </a:prstGeom>
        </p:spPr>
        <p:txBody>
          <a:bodyPr wrap="square" lIns="0" tIns="0" rIns="0" bIns="0" rtlCol="0" anchor="t">
            <a:spAutoFit/>
          </a:bodyPr>
          <a:lstStyle/>
          <a:p>
            <a:pPr marL="327666" lvl="1">
              <a:lnSpc>
                <a:spcPts val="4249"/>
              </a:lnSpc>
            </a:pPr>
            <a:r>
              <a:rPr lang="en-US" sz="3200" dirty="0" smtClean="0">
                <a:solidFill>
                  <a:schemeClr val="bg1"/>
                </a:solidFill>
              </a:rPr>
              <a:t>2. Strengthen </a:t>
            </a:r>
            <a:r>
              <a:rPr lang="en-US" sz="3200" dirty="0">
                <a:solidFill>
                  <a:schemeClr val="bg1"/>
                </a:solidFill>
              </a:rPr>
              <a:t>Patient Feedback and Engagement </a:t>
            </a:r>
            <a:r>
              <a:rPr lang="en-US" sz="3200" dirty="0" smtClean="0">
                <a:solidFill>
                  <a:schemeClr val="bg1"/>
                </a:solidFill>
              </a:rPr>
              <a:t>System</a:t>
            </a:r>
          </a:p>
          <a:p>
            <a:pPr marL="784866" lvl="1" indent="-457200">
              <a:lnSpc>
                <a:spcPts val="4249"/>
              </a:lnSpc>
              <a:buFont typeface="Arial" panose="020B0604020202020204" pitchFamily="34" charset="0"/>
              <a:buChar char="•"/>
            </a:pPr>
            <a:r>
              <a:rPr lang="en-US" sz="3200" dirty="0">
                <a:solidFill>
                  <a:schemeClr val="bg1"/>
                </a:solidFill>
              </a:rPr>
              <a:t>A large portion of missing satisfaction scores (~72%) indicates the need for a more effective and engaging feedback </a:t>
            </a:r>
            <a:r>
              <a:rPr lang="en-US" sz="3200" dirty="0" smtClean="0">
                <a:solidFill>
                  <a:schemeClr val="bg1"/>
                </a:solidFill>
              </a:rPr>
              <a:t>mechanism</a:t>
            </a:r>
          </a:p>
          <a:p>
            <a:pPr marL="784866" lvl="1" indent="-457200">
              <a:lnSpc>
                <a:spcPts val="4249"/>
              </a:lnSpc>
              <a:buFont typeface="Arial" panose="020B0604020202020204" pitchFamily="34" charset="0"/>
              <a:buChar char="•"/>
            </a:pPr>
            <a:r>
              <a:rPr lang="en-US" sz="3200" dirty="0" smtClean="0">
                <a:solidFill>
                  <a:schemeClr val="bg1"/>
                </a:solidFill>
              </a:rPr>
              <a:t>Develop </a:t>
            </a:r>
            <a:r>
              <a:rPr lang="en-US" sz="3200" dirty="0">
                <a:solidFill>
                  <a:schemeClr val="bg1"/>
                </a:solidFill>
              </a:rPr>
              <a:t>a simple and engaging feedback mechanism (like digital kiosks or mobile surveys) to reduce missing satisfaction scores. </a:t>
            </a:r>
            <a:endParaRPr lang="en-US" sz="3200" dirty="0" smtClean="0">
              <a:solidFill>
                <a:schemeClr val="bg1"/>
              </a:solidFill>
            </a:endParaRPr>
          </a:p>
          <a:p>
            <a:pPr marL="784866" lvl="1" indent="-457200">
              <a:lnSpc>
                <a:spcPts val="4249"/>
              </a:lnSpc>
              <a:buFont typeface="Arial" panose="020B0604020202020204" pitchFamily="34" charset="0"/>
              <a:buChar char="•"/>
            </a:pPr>
            <a:r>
              <a:rPr lang="en-US" sz="3200" dirty="0" smtClean="0">
                <a:solidFill>
                  <a:schemeClr val="bg1"/>
                </a:solidFill>
              </a:rPr>
              <a:t>Ensure </a:t>
            </a:r>
            <a:r>
              <a:rPr lang="en-US" sz="3200" dirty="0">
                <a:solidFill>
                  <a:schemeClr val="bg1"/>
                </a:solidFill>
              </a:rPr>
              <a:t>feedback is collected consistently after each visit to capture real-time patient experiences. </a:t>
            </a:r>
            <a:endParaRPr lang="en-US" sz="3035" spc="239" dirty="0">
              <a:solidFill>
                <a:schemeClr val="bg1"/>
              </a:solidFill>
              <a:latin typeface="Public Sans"/>
              <a:ea typeface="Public Sans"/>
              <a:cs typeface="Public Sans"/>
              <a:sym typeface="Public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43E63"/>
        </a:solidFill>
        <a:effectLst/>
      </p:bgPr>
    </p:bg>
    <p:spTree>
      <p:nvGrpSpPr>
        <p:cNvPr id="1" name=""/>
        <p:cNvGrpSpPr/>
        <p:nvPr/>
      </p:nvGrpSpPr>
      <p:grpSpPr>
        <a:xfrm>
          <a:off x="0" y="0"/>
          <a:ext cx="0" cy="0"/>
          <a:chOff x="0" y="0"/>
          <a:chExt cx="0" cy="0"/>
        </a:xfrm>
      </p:grpSpPr>
      <p:sp>
        <p:nvSpPr>
          <p:cNvPr id="3" name="TextBox 3"/>
          <p:cNvSpPr txBox="1"/>
          <p:nvPr/>
        </p:nvSpPr>
        <p:spPr>
          <a:xfrm>
            <a:off x="3048229" y="828675"/>
            <a:ext cx="11705927" cy="838499"/>
          </a:xfrm>
          <a:prstGeom prst="rect">
            <a:avLst/>
          </a:prstGeom>
        </p:spPr>
        <p:txBody>
          <a:bodyPr lIns="0" tIns="0" rIns="0" bIns="0" rtlCol="0" anchor="t">
            <a:spAutoFit/>
          </a:bodyPr>
          <a:lstStyle/>
          <a:p>
            <a:pPr algn="ctr">
              <a:lnSpc>
                <a:spcPts val="7000"/>
              </a:lnSpc>
              <a:spcBef>
                <a:spcPct val="0"/>
              </a:spcBef>
            </a:pPr>
            <a:r>
              <a:rPr lang="en-IN" sz="4800" dirty="0">
                <a:solidFill>
                  <a:schemeClr val="bg1"/>
                </a:solidFill>
                <a:latin typeface="Calisto MT" panose="02040603050505030304" pitchFamily="18" charset="0"/>
              </a:rPr>
              <a:t>Recommendations</a:t>
            </a:r>
            <a:endParaRPr lang="en-US" sz="4800" spc="395" dirty="0">
              <a:solidFill>
                <a:schemeClr val="bg1"/>
              </a:solidFill>
              <a:latin typeface="Calisto MT" panose="02040603050505030304" pitchFamily="18" charset="0"/>
              <a:ea typeface="Times New Roman"/>
              <a:cs typeface="Times New Roman"/>
              <a:sym typeface="Times New Roman"/>
            </a:endParaRPr>
          </a:p>
        </p:txBody>
      </p:sp>
      <p:sp>
        <p:nvSpPr>
          <p:cNvPr id="4" name="TextBox 4"/>
          <p:cNvSpPr txBox="1"/>
          <p:nvPr/>
        </p:nvSpPr>
        <p:spPr>
          <a:xfrm>
            <a:off x="1667313" y="2985188"/>
            <a:ext cx="12963087" cy="3740961"/>
          </a:xfrm>
          <a:prstGeom prst="rect">
            <a:avLst/>
          </a:prstGeom>
        </p:spPr>
        <p:txBody>
          <a:bodyPr wrap="square" lIns="0" tIns="0" rIns="0" bIns="0" rtlCol="0" anchor="t">
            <a:spAutoFit/>
          </a:bodyPr>
          <a:lstStyle/>
          <a:p>
            <a:pPr marL="327666" lvl="1">
              <a:lnSpc>
                <a:spcPts val="4249"/>
              </a:lnSpc>
            </a:pPr>
            <a:r>
              <a:rPr lang="en-US" sz="3200" dirty="0" smtClean="0">
                <a:solidFill>
                  <a:schemeClr val="bg1"/>
                </a:solidFill>
              </a:rPr>
              <a:t>3.Refine </a:t>
            </a:r>
            <a:r>
              <a:rPr lang="en-US" sz="3200" dirty="0">
                <a:solidFill>
                  <a:schemeClr val="bg1"/>
                </a:solidFill>
              </a:rPr>
              <a:t>Discount and Retention </a:t>
            </a:r>
            <a:r>
              <a:rPr lang="en-US" sz="3200" dirty="0" smtClean="0">
                <a:solidFill>
                  <a:schemeClr val="bg1"/>
                </a:solidFill>
              </a:rPr>
              <a:t>Strategies</a:t>
            </a:r>
          </a:p>
          <a:p>
            <a:pPr marL="784866" lvl="1" indent="-457200">
              <a:lnSpc>
                <a:spcPts val="4249"/>
              </a:lnSpc>
              <a:buFont typeface="Arial" panose="020B0604020202020204" pitchFamily="34" charset="0"/>
              <a:buChar char="•"/>
            </a:pPr>
            <a:r>
              <a:rPr lang="en-US" sz="3200" dirty="0">
                <a:solidFill>
                  <a:schemeClr val="bg1"/>
                </a:solidFill>
              </a:rPr>
              <a:t>Allocate discounts primarily based on age group and revenue contribution, ensuring fairness across patient segments. </a:t>
            </a:r>
            <a:endParaRPr lang="en-US" sz="3200" dirty="0" smtClean="0">
              <a:solidFill>
                <a:schemeClr val="bg1"/>
              </a:solidFill>
            </a:endParaRPr>
          </a:p>
          <a:p>
            <a:pPr marL="784866" lvl="1" indent="-457200">
              <a:lnSpc>
                <a:spcPts val="4249"/>
              </a:lnSpc>
              <a:buFont typeface="Arial" panose="020B0604020202020204" pitchFamily="34" charset="0"/>
              <a:buChar char="•"/>
            </a:pPr>
            <a:r>
              <a:rPr lang="en-US" sz="3200" dirty="0" smtClean="0">
                <a:solidFill>
                  <a:schemeClr val="bg1"/>
                </a:solidFill>
              </a:rPr>
              <a:t>Offer </a:t>
            </a:r>
            <a:r>
              <a:rPr lang="en-US" sz="3200" dirty="0">
                <a:solidFill>
                  <a:schemeClr val="bg1"/>
                </a:solidFill>
              </a:rPr>
              <a:t>higher discounts to elderly or low-revenue groups to improve accessibility and engagement. </a:t>
            </a:r>
            <a:endParaRPr lang="en-US" sz="3200" dirty="0" smtClean="0">
              <a:solidFill>
                <a:schemeClr val="bg1"/>
              </a:solidFill>
            </a:endParaRPr>
          </a:p>
          <a:p>
            <a:pPr marL="784866" lvl="1" indent="-457200">
              <a:lnSpc>
                <a:spcPts val="4249"/>
              </a:lnSpc>
              <a:buFont typeface="Arial" panose="020B0604020202020204" pitchFamily="34" charset="0"/>
              <a:buChar char="•"/>
            </a:pPr>
            <a:r>
              <a:rPr lang="en-US" sz="3200" dirty="0" smtClean="0">
                <a:solidFill>
                  <a:schemeClr val="bg1"/>
                </a:solidFill>
              </a:rPr>
              <a:t>As </a:t>
            </a:r>
            <a:r>
              <a:rPr lang="en-US" sz="3200" dirty="0">
                <a:solidFill>
                  <a:schemeClr val="bg1"/>
                </a:solidFill>
              </a:rPr>
              <a:t>satisfaction data improves, incorporate sat_scores into discount logic to reward loyal and satisfied patients effectively</a:t>
            </a:r>
            <a:endParaRPr lang="en-US" sz="3035" spc="239" dirty="0">
              <a:solidFill>
                <a:schemeClr val="bg1"/>
              </a:solidFill>
              <a:latin typeface="Public Sans"/>
              <a:ea typeface="Public Sans"/>
              <a:cs typeface="Public Sans"/>
              <a:sym typeface="Public Sans"/>
            </a:endParaRPr>
          </a:p>
        </p:txBody>
      </p:sp>
    </p:spTree>
    <p:extLst>
      <p:ext uri="{BB962C8B-B14F-4D97-AF65-F5344CB8AC3E}">
        <p14:creationId xmlns:p14="http://schemas.microsoft.com/office/powerpoint/2010/main" val="40569317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43E63"/>
        </a:solidFill>
        <a:effectLst/>
      </p:bgPr>
    </p:bg>
    <p:spTree>
      <p:nvGrpSpPr>
        <p:cNvPr id="1" name=""/>
        <p:cNvGrpSpPr/>
        <p:nvPr/>
      </p:nvGrpSpPr>
      <p:grpSpPr>
        <a:xfrm>
          <a:off x="0" y="0"/>
          <a:ext cx="0" cy="0"/>
          <a:chOff x="0" y="0"/>
          <a:chExt cx="0" cy="0"/>
        </a:xfrm>
      </p:grpSpPr>
      <p:sp>
        <p:nvSpPr>
          <p:cNvPr id="3" name="TextBox 3"/>
          <p:cNvSpPr txBox="1"/>
          <p:nvPr/>
        </p:nvSpPr>
        <p:spPr>
          <a:xfrm>
            <a:off x="1828800" y="495300"/>
            <a:ext cx="13884508" cy="897682"/>
          </a:xfrm>
          <a:prstGeom prst="rect">
            <a:avLst/>
          </a:prstGeom>
        </p:spPr>
        <p:txBody>
          <a:bodyPr wrap="square" lIns="0" tIns="0" rIns="0" bIns="0" rtlCol="0" anchor="t">
            <a:spAutoFit/>
          </a:bodyPr>
          <a:lstStyle/>
          <a:p>
            <a:pPr algn="ctr">
              <a:lnSpc>
                <a:spcPts val="7000"/>
              </a:lnSpc>
              <a:spcBef>
                <a:spcPct val="0"/>
              </a:spcBef>
            </a:pPr>
            <a:r>
              <a:rPr lang="en-IN" sz="5400" dirty="0">
                <a:solidFill>
                  <a:schemeClr val="bg1"/>
                </a:solidFill>
                <a:latin typeface="Copperplate Gothic Bold" panose="020E0705020206020404" pitchFamily="34" charset="0"/>
              </a:rPr>
              <a:t>FINAL DASHBOARD(Main Tab)</a:t>
            </a:r>
            <a:endParaRPr lang="en-US" sz="5000" spc="395" dirty="0">
              <a:solidFill>
                <a:schemeClr val="bg1"/>
              </a:solidFill>
              <a:latin typeface="Copperplate Gothic Bold" panose="020E0705020206020404" pitchFamily="34" charset="0"/>
              <a:ea typeface="Times New Roman"/>
              <a:cs typeface="Times New Roman"/>
              <a:sym typeface="Times New Roman"/>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1714500"/>
            <a:ext cx="15065955" cy="794151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43E63"/>
        </a:solidFill>
        <a:effectLst/>
      </p:bgPr>
    </p:bg>
    <p:spTree>
      <p:nvGrpSpPr>
        <p:cNvPr id="1" name=""/>
        <p:cNvGrpSpPr/>
        <p:nvPr/>
      </p:nvGrpSpPr>
      <p:grpSpPr>
        <a:xfrm>
          <a:off x="0" y="0"/>
          <a:ext cx="0" cy="0"/>
          <a:chOff x="0" y="0"/>
          <a:chExt cx="0" cy="0"/>
        </a:xfrm>
      </p:grpSpPr>
      <p:sp>
        <p:nvSpPr>
          <p:cNvPr id="3" name="TextBox 3"/>
          <p:cNvSpPr txBox="1"/>
          <p:nvPr/>
        </p:nvSpPr>
        <p:spPr>
          <a:xfrm>
            <a:off x="1981200" y="495300"/>
            <a:ext cx="14706600" cy="897682"/>
          </a:xfrm>
          <a:prstGeom prst="rect">
            <a:avLst/>
          </a:prstGeom>
        </p:spPr>
        <p:txBody>
          <a:bodyPr wrap="square" lIns="0" tIns="0" rIns="0" bIns="0" rtlCol="0" anchor="t">
            <a:spAutoFit/>
          </a:bodyPr>
          <a:lstStyle/>
          <a:p>
            <a:pPr algn="ctr">
              <a:lnSpc>
                <a:spcPts val="7000"/>
              </a:lnSpc>
              <a:spcBef>
                <a:spcPct val="0"/>
              </a:spcBef>
            </a:pPr>
            <a:r>
              <a:rPr lang="en-IN" sz="6000" dirty="0">
                <a:solidFill>
                  <a:schemeClr val="bg1"/>
                </a:solidFill>
                <a:latin typeface="Copperplate Gothic Bold" panose="020E0705020206020404" pitchFamily="34" charset="0"/>
              </a:rPr>
              <a:t>FINAL DASHBOARD(Doctor’s Tab)</a:t>
            </a:r>
            <a:endParaRPr lang="en-US" sz="5400" spc="395" dirty="0">
              <a:solidFill>
                <a:schemeClr val="bg1"/>
              </a:solidFill>
              <a:latin typeface="Copperplate Gothic Bold" panose="020E0705020206020404" pitchFamily="34" charset="0"/>
              <a:ea typeface="Times New Roman"/>
              <a:cs typeface="Times New Roman"/>
              <a:sym typeface="Times New Roman"/>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60880" y="2019300"/>
            <a:ext cx="14378377" cy="78486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43E63"/>
        </a:solidFill>
        <a:effectLst/>
      </p:bgPr>
    </p:bg>
    <p:spTree>
      <p:nvGrpSpPr>
        <p:cNvPr id="1" name=""/>
        <p:cNvGrpSpPr/>
        <p:nvPr/>
      </p:nvGrpSpPr>
      <p:grpSpPr>
        <a:xfrm>
          <a:off x="0" y="0"/>
          <a:ext cx="0" cy="0"/>
          <a:chOff x="0" y="0"/>
          <a:chExt cx="0" cy="0"/>
        </a:xfrm>
      </p:grpSpPr>
      <p:sp>
        <p:nvSpPr>
          <p:cNvPr id="3" name="TextBox 3"/>
          <p:cNvSpPr txBox="1"/>
          <p:nvPr/>
        </p:nvSpPr>
        <p:spPr>
          <a:xfrm>
            <a:off x="1981200" y="495300"/>
            <a:ext cx="14706600" cy="897682"/>
          </a:xfrm>
          <a:prstGeom prst="rect">
            <a:avLst/>
          </a:prstGeom>
        </p:spPr>
        <p:txBody>
          <a:bodyPr wrap="square" lIns="0" tIns="0" rIns="0" bIns="0" rtlCol="0" anchor="t">
            <a:spAutoFit/>
          </a:bodyPr>
          <a:lstStyle/>
          <a:p>
            <a:pPr algn="ctr">
              <a:lnSpc>
                <a:spcPts val="7000"/>
              </a:lnSpc>
              <a:spcBef>
                <a:spcPct val="0"/>
              </a:spcBef>
            </a:pPr>
            <a:r>
              <a:rPr lang="en-IN" sz="6000" dirty="0">
                <a:solidFill>
                  <a:schemeClr val="bg1"/>
                </a:solidFill>
                <a:latin typeface="Copperplate Gothic Bold" panose="020E0705020206020404" pitchFamily="34" charset="0"/>
              </a:rPr>
              <a:t>FINAL </a:t>
            </a:r>
            <a:r>
              <a:rPr lang="en-IN" sz="6000" dirty="0" smtClean="0">
                <a:solidFill>
                  <a:schemeClr val="bg1"/>
                </a:solidFill>
                <a:latin typeface="Copperplate Gothic Bold" panose="020E0705020206020404" pitchFamily="34" charset="0"/>
              </a:rPr>
              <a:t>DASHBOARD(Patient’s </a:t>
            </a:r>
            <a:r>
              <a:rPr lang="en-IN" sz="6000" dirty="0">
                <a:solidFill>
                  <a:schemeClr val="bg1"/>
                </a:solidFill>
                <a:latin typeface="Copperplate Gothic Bold" panose="020E0705020206020404" pitchFamily="34" charset="0"/>
              </a:rPr>
              <a:t>Tab)</a:t>
            </a:r>
            <a:endParaRPr lang="en-US" sz="5400" spc="395" dirty="0">
              <a:solidFill>
                <a:schemeClr val="bg1"/>
              </a:solidFill>
              <a:latin typeface="Copperplate Gothic Bold" panose="020E0705020206020404" pitchFamily="34" charset="0"/>
              <a:ea typeface="Times New Roman"/>
              <a:cs typeface="Times New Roman"/>
              <a:sym typeface="Times New Roman"/>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48237" y="1790700"/>
            <a:ext cx="14939563" cy="8153400"/>
          </a:xfrm>
          <a:prstGeom prst="rect">
            <a:avLst/>
          </a:prstGeom>
        </p:spPr>
      </p:pic>
    </p:spTree>
    <p:extLst>
      <p:ext uri="{BB962C8B-B14F-4D97-AF65-F5344CB8AC3E}">
        <p14:creationId xmlns:p14="http://schemas.microsoft.com/office/powerpoint/2010/main" val="7140895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43E63"/>
        </a:solidFill>
        <a:effectLst/>
      </p:bgPr>
    </p:bg>
    <p:spTree>
      <p:nvGrpSpPr>
        <p:cNvPr id="1" name=""/>
        <p:cNvGrpSpPr/>
        <p:nvPr/>
      </p:nvGrpSpPr>
      <p:grpSpPr>
        <a:xfrm>
          <a:off x="0" y="0"/>
          <a:ext cx="0" cy="0"/>
          <a:chOff x="0" y="0"/>
          <a:chExt cx="0" cy="0"/>
        </a:xfrm>
      </p:grpSpPr>
      <p:sp>
        <p:nvSpPr>
          <p:cNvPr id="2" name="TextBox 2"/>
          <p:cNvSpPr txBox="1"/>
          <p:nvPr/>
        </p:nvSpPr>
        <p:spPr>
          <a:xfrm>
            <a:off x="5867400" y="876300"/>
            <a:ext cx="6096083" cy="897682"/>
          </a:xfrm>
          <a:prstGeom prst="rect">
            <a:avLst/>
          </a:prstGeom>
        </p:spPr>
        <p:txBody>
          <a:bodyPr wrap="square" lIns="0" tIns="0" rIns="0" bIns="0" rtlCol="0" anchor="t">
            <a:spAutoFit/>
          </a:bodyPr>
          <a:lstStyle/>
          <a:p>
            <a:pPr algn="ctr">
              <a:lnSpc>
                <a:spcPts val="6999"/>
              </a:lnSpc>
              <a:spcBef>
                <a:spcPct val="0"/>
              </a:spcBef>
            </a:pPr>
            <a:r>
              <a:rPr lang="en-US" sz="4999" dirty="0">
                <a:solidFill>
                  <a:srgbClr val="FFFFFF"/>
                </a:solidFill>
                <a:latin typeface="Copperplate Gothic Bold" panose="020E0705020206020404" pitchFamily="34" charset="0"/>
                <a:ea typeface="Times New Roman"/>
                <a:cs typeface="Times New Roman"/>
                <a:sym typeface="Times New Roman"/>
              </a:rPr>
              <a:t>CONCLUSION</a:t>
            </a:r>
          </a:p>
        </p:txBody>
      </p:sp>
      <p:sp>
        <p:nvSpPr>
          <p:cNvPr id="3" name="TextBox 3"/>
          <p:cNvSpPr txBox="1"/>
          <p:nvPr/>
        </p:nvSpPr>
        <p:spPr>
          <a:xfrm>
            <a:off x="2908143" y="2725037"/>
            <a:ext cx="12471714" cy="5655394"/>
          </a:xfrm>
          <a:prstGeom prst="rect">
            <a:avLst/>
          </a:prstGeom>
        </p:spPr>
        <p:txBody>
          <a:bodyPr lIns="0" tIns="0" rIns="0" bIns="0" rtlCol="0" anchor="t">
            <a:spAutoFit/>
          </a:bodyPr>
          <a:lstStyle/>
          <a:p>
            <a:pPr marL="755651" lvl="1" indent="-377825" algn="l">
              <a:lnSpc>
                <a:spcPts val="4900"/>
              </a:lnSpc>
              <a:buFont typeface="Arial"/>
              <a:buChar char="•"/>
            </a:pPr>
            <a:r>
              <a:rPr lang="en-US" sz="3500" spc="276" dirty="0">
                <a:solidFill>
                  <a:srgbClr val="FFFFFF"/>
                </a:solidFill>
                <a:latin typeface="Calisto MT" panose="02040603050505030304" pitchFamily="18" charset="0"/>
                <a:ea typeface="Public Sans"/>
                <a:cs typeface="Public Sans"/>
                <a:sym typeface="Public Sans"/>
              </a:rPr>
              <a:t>General Practice drives volume, Neurology drives profit</a:t>
            </a:r>
          </a:p>
          <a:p>
            <a:pPr marL="755651" lvl="1" indent="-377825" algn="l">
              <a:lnSpc>
                <a:spcPts val="4900"/>
              </a:lnSpc>
              <a:buFont typeface="Arial"/>
              <a:buChar char="•"/>
            </a:pPr>
            <a:r>
              <a:rPr lang="en-US" sz="3500" spc="276" dirty="0">
                <a:solidFill>
                  <a:srgbClr val="FFFFFF"/>
                </a:solidFill>
                <a:latin typeface="Calisto MT" panose="02040603050505030304" pitchFamily="18" charset="0"/>
                <a:ea typeface="Public Sans"/>
                <a:cs typeface="Public Sans"/>
                <a:sym typeface="Public Sans"/>
              </a:rPr>
              <a:t>Neurology/Physiotherapy need process redesign</a:t>
            </a:r>
          </a:p>
          <a:p>
            <a:pPr marL="755651" lvl="1" indent="-377825" algn="l">
              <a:lnSpc>
                <a:spcPts val="4900"/>
              </a:lnSpc>
              <a:buFont typeface="Arial"/>
              <a:buChar char="•"/>
            </a:pPr>
            <a:r>
              <a:rPr lang="en-US" sz="3500" spc="276" dirty="0">
                <a:solidFill>
                  <a:srgbClr val="FFFFFF"/>
                </a:solidFill>
                <a:latin typeface="Calisto MT" panose="02040603050505030304" pitchFamily="18" charset="0"/>
                <a:ea typeface="Public Sans"/>
                <a:cs typeface="Public Sans"/>
                <a:sym typeface="Public Sans"/>
              </a:rPr>
              <a:t>Targeted interventions required for teens/Asian males</a:t>
            </a:r>
          </a:p>
          <a:p>
            <a:pPr marL="755651" lvl="1" indent="-377825" algn="l">
              <a:lnSpc>
                <a:spcPts val="4900"/>
              </a:lnSpc>
              <a:buFont typeface="Arial"/>
              <a:buChar char="•"/>
            </a:pPr>
            <a:r>
              <a:rPr lang="en-US" sz="3500" spc="276" dirty="0">
                <a:solidFill>
                  <a:srgbClr val="FFFFFF"/>
                </a:solidFill>
                <a:latin typeface="Calisto MT" panose="02040603050505030304" pitchFamily="18" charset="0"/>
                <a:ea typeface="Public Sans"/>
                <a:cs typeface="Public Sans"/>
                <a:sym typeface="Public Sans"/>
              </a:rPr>
              <a:t>Shift A requires 20% more resources</a:t>
            </a:r>
          </a:p>
          <a:p>
            <a:pPr marL="755651" lvl="1" indent="-377825" algn="l">
              <a:lnSpc>
                <a:spcPts val="4900"/>
              </a:lnSpc>
              <a:buFont typeface="Arial"/>
              <a:buChar char="•"/>
            </a:pPr>
            <a:r>
              <a:rPr lang="en-US" sz="3500" spc="276" dirty="0">
                <a:solidFill>
                  <a:srgbClr val="FFFFFF"/>
                </a:solidFill>
                <a:latin typeface="Calisto MT" panose="02040603050505030304" pitchFamily="18" charset="0"/>
                <a:ea typeface="Public Sans"/>
                <a:cs typeface="Public Sans"/>
                <a:sym typeface="Public Sans"/>
              </a:rPr>
              <a:t>Medium discounts most effective</a:t>
            </a:r>
          </a:p>
          <a:p>
            <a:pPr marL="755651" lvl="1" indent="-377825" algn="l">
              <a:lnSpc>
                <a:spcPts val="4900"/>
              </a:lnSpc>
              <a:buFont typeface="Arial"/>
              <a:buChar char="•"/>
            </a:pPr>
            <a:r>
              <a:rPr lang="en-US" sz="3500" spc="276" dirty="0">
                <a:solidFill>
                  <a:srgbClr val="FFFFFF"/>
                </a:solidFill>
                <a:latin typeface="Calisto MT" panose="02040603050505030304" pitchFamily="18" charset="0"/>
                <a:ea typeface="Public Sans"/>
                <a:cs typeface="Public Sans"/>
                <a:sym typeface="Public Sans"/>
              </a:rPr>
              <a:t>Quick wins: Teen clinics + neurologist hire</a:t>
            </a:r>
          </a:p>
          <a:p>
            <a:pPr marL="755651" lvl="1" indent="-377825" algn="l">
              <a:lnSpc>
                <a:spcPts val="4900"/>
              </a:lnSpc>
              <a:buFont typeface="Arial"/>
              <a:buChar char="•"/>
            </a:pPr>
            <a:r>
              <a:rPr lang="en-US" sz="3500" spc="276" dirty="0">
                <a:solidFill>
                  <a:srgbClr val="FFFFFF"/>
                </a:solidFill>
                <a:latin typeface="Calisto MT" panose="02040603050505030304" pitchFamily="18" charset="0"/>
                <a:ea typeface="Public Sans"/>
                <a:cs typeface="Public Sans"/>
                <a:sym typeface="Public Sans"/>
              </a:rPr>
              <a:t>1-min wait reduction → 0.2 satisfaction gain</a:t>
            </a:r>
          </a:p>
        </p:txBody>
      </p:sp>
      <p:sp>
        <p:nvSpPr>
          <p:cNvPr id="4" name="Freeform 4"/>
          <p:cNvSpPr/>
          <p:nvPr/>
        </p:nvSpPr>
        <p:spPr>
          <a:xfrm rot="-5319799" flipH="1" flipV="1">
            <a:off x="-854611" y="-3988754"/>
            <a:ext cx="4147622" cy="7839148"/>
          </a:xfrm>
          <a:custGeom>
            <a:avLst/>
            <a:gdLst/>
            <a:ahLst/>
            <a:cxnLst/>
            <a:rect l="l" t="t" r="r" b="b"/>
            <a:pathLst>
              <a:path w="4147622" h="7839148">
                <a:moveTo>
                  <a:pt x="4147622" y="7839149"/>
                </a:moveTo>
                <a:lnTo>
                  <a:pt x="0" y="7839149"/>
                </a:lnTo>
                <a:lnTo>
                  <a:pt x="0" y="0"/>
                </a:lnTo>
                <a:lnTo>
                  <a:pt x="4147622" y="0"/>
                </a:lnTo>
                <a:lnTo>
                  <a:pt x="4147622" y="7839149"/>
                </a:lnTo>
                <a:close/>
              </a:path>
            </a:pathLst>
          </a:custGeom>
          <a:blipFill>
            <a:blip r:embed="rId2">
              <a:alphaModFix amt="50000"/>
              <a:extLst>
                <a:ext uri="{96DAC541-7B7A-43D3-8B79-37D633B846F1}">
                  <asvg:svgBlip xmlns:asvg="http://schemas.microsoft.com/office/drawing/2016/SVG/main" xmlns="" r:embed="rId3"/>
                </a:ext>
              </a:extLst>
            </a:blip>
            <a:stretch>
              <a:fillRect/>
            </a:stretch>
          </a:blipFill>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43E63"/>
        </a:solidFill>
        <a:effectLst/>
      </p:bgPr>
    </p:bg>
    <p:spTree>
      <p:nvGrpSpPr>
        <p:cNvPr id="1" name=""/>
        <p:cNvGrpSpPr/>
        <p:nvPr/>
      </p:nvGrpSpPr>
      <p:grpSpPr>
        <a:xfrm>
          <a:off x="0" y="0"/>
          <a:ext cx="0" cy="0"/>
          <a:chOff x="0" y="0"/>
          <a:chExt cx="0" cy="0"/>
        </a:xfrm>
      </p:grpSpPr>
      <p:sp>
        <p:nvSpPr>
          <p:cNvPr id="2" name="Freeform 2"/>
          <p:cNvSpPr/>
          <p:nvPr/>
        </p:nvSpPr>
        <p:spPr>
          <a:xfrm rot="-5931620" flipH="1">
            <a:off x="5277259" y="-5894618"/>
            <a:ext cx="5404519" cy="10214726"/>
          </a:xfrm>
          <a:custGeom>
            <a:avLst/>
            <a:gdLst/>
            <a:ahLst/>
            <a:cxnLst/>
            <a:rect l="l" t="t" r="r" b="b"/>
            <a:pathLst>
              <a:path w="5404519" h="10214726">
                <a:moveTo>
                  <a:pt x="5404519" y="0"/>
                </a:moveTo>
                <a:lnTo>
                  <a:pt x="0" y="0"/>
                </a:lnTo>
                <a:lnTo>
                  <a:pt x="0" y="10214726"/>
                </a:lnTo>
                <a:lnTo>
                  <a:pt x="5404519" y="10214726"/>
                </a:lnTo>
                <a:lnTo>
                  <a:pt x="5404519" y="0"/>
                </a:lnTo>
                <a:close/>
              </a:path>
            </a:pathLst>
          </a:custGeom>
          <a:blipFill>
            <a:blip r:embed="rId2">
              <a:alphaModFix amt="50000"/>
              <a:extLst>
                <a:ext uri="{96DAC541-7B7A-43D3-8B79-37D633B846F1}">
                  <asvg:svgBlip xmlns:asvg="http://schemas.microsoft.com/office/drawing/2016/SVG/main" xmlns="" r:embed="rId3"/>
                </a:ext>
              </a:extLst>
            </a:blip>
            <a:stretch>
              <a:fillRect/>
            </a:stretch>
          </a:blipFill>
        </p:spPr>
      </p:sp>
      <p:sp>
        <p:nvSpPr>
          <p:cNvPr id="3" name="Freeform 3"/>
          <p:cNvSpPr/>
          <p:nvPr/>
        </p:nvSpPr>
        <p:spPr>
          <a:xfrm rot="8510065" flipH="1" flipV="1">
            <a:off x="-220504" y="6884292"/>
            <a:ext cx="4147622" cy="7839148"/>
          </a:xfrm>
          <a:custGeom>
            <a:avLst/>
            <a:gdLst/>
            <a:ahLst/>
            <a:cxnLst/>
            <a:rect l="l" t="t" r="r" b="b"/>
            <a:pathLst>
              <a:path w="4147622" h="7839148">
                <a:moveTo>
                  <a:pt x="4147622" y="7839149"/>
                </a:moveTo>
                <a:lnTo>
                  <a:pt x="0" y="7839149"/>
                </a:lnTo>
                <a:lnTo>
                  <a:pt x="0" y="0"/>
                </a:lnTo>
                <a:lnTo>
                  <a:pt x="4147622" y="0"/>
                </a:lnTo>
                <a:lnTo>
                  <a:pt x="4147622" y="7839149"/>
                </a:lnTo>
                <a:close/>
              </a:path>
            </a:pathLst>
          </a:custGeom>
          <a:blipFill>
            <a:blip r:embed="rId2">
              <a:alphaModFix amt="50000"/>
              <a:extLst>
                <a:ext uri="{96DAC541-7B7A-43D3-8B79-37D633B846F1}">
                  <asvg:svgBlip xmlns:asvg="http://schemas.microsoft.com/office/drawing/2016/SVG/main" xmlns="" r:embed="rId3"/>
                </a:ext>
              </a:extLst>
            </a:blip>
            <a:stretch>
              <a:fillRect/>
            </a:stretch>
          </a:blipFill>
        </p:spPr>
      </p:sp>
      <p:grpSp>
        <p:nvGrpSpPr>
          <p:cNvPr id="4" name="Group 4"/>
          <p:cNvGrpSpPr/>
          <p:nvPr/>
        </p:nvGrpSpPr>
        <p:grpSpPr>
          <a:xfrm>
            <a:off x="0" y="3295650"/>
            <a:ext cx="17148810" cy="3695700"/>
            <a:chOff x="0" y="0"/>
            <a:chExt cx="4516559" cy="973353"/>
          </a:xfrm>
        </p:grpSpPr>
        <p:sp>
          <p:nvSpPr>
            <p:cNvPr id="5" name="Freeform 5"/>
            <p:cNvSpPr/>
            <p:nvPr/>
          </p:nvSpPr>
          <p:spPr>
            <a:xfrm>
              <a:off x="0" y="0"/>
              <a:ext cx="4516559" cy="973353"/>
            </a:xfrm>
            <a:custGeom>
              <a:avLst/>
              <a:gdLst/>
              <a:ahLst/>
              <a:cxnLst/>
              <a:rect l="l" t="t" r="r" b="b"/>
              <a:pathLst>
                <a:path w="4516559" h="973353">
                  <a:moveTo>
                    <a:pt x="0" y="0"/>
                  </a:moveTo>
                  <a:lnTo>
                    <a:pt x="4516559" y="0"/>
                  </a:lnTo>
                  <a:lnTo>
                    <a:pt x="4516559" y="973353"/>
                  </a:lnTo>
                  <a:lnTo>
                    <a:pt x="0" y="973353"/>
                  </a:lnTo>
                  <a:close/>
                </a:path>
              </a:pathLst>
            </a:custGeom>
            <a:solidFill>
              <a:srgbClr val="043E63"/>
            </a:solidFill>
          </p:spPr>
        </p:sp>
        <p:sp>
          <p:nvSpPr>
            <p:cNvPr id="6" name="TextBox 6"/>
            <p:cNvSpPr txBox="1"/>
            <p:nvPr/>
          </p:nvSpPr>
          <p:spPr>
            <a:xfrm>
              <a:off x="0" y="-38100"/>
              <a:ext cx="4516559" cy="1011453"/>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rot="5400000">
            <a:off x="15296962" y="5143688"/>
            <a:ext cx="4839076" cy="1143000"/>
            <a:chOff x="0" y="0"/>
            <a:chExt cx="860419" cy="203233"/>
          </a:xfrm>
        </p:grpSpPr>
        <p:sp>
          <p:nvSpPr>
            <p:cNvPr id="8" name="Freeform 8"/>
            <p:cNvSpPr/>
            <p:nvPr/>
          </p:nvSpPr>
          <p:spPr>
            <a:xfrm>
              <a:off x="0" y="0"/>
              <a:ext cx="860419" cy="203233"/>
            </a:xfrm>
            <a:custGeom>
              <a:avLst/>
              <a:gdLst/>
              <a:ahLst/>
              <a:cxnLst/>
              <a:rect l="l" t="t" r="r" b="b"/>
              <a:pathLst>
                <a:path w="860419" h="203233">
                  <a:moveTo>
                    <a:pt x="203200" y="0"/>
                  </a:moveTo>
                  <a:lnTo>
                    <a:pt x="860419" y="0"/>
                  </a:lnTo>
                  <a:lnTo>
                    <a:pt x="657219" y="203233"/>
                  </a:lnTo>
                  <a:lnTo>
                    <a:pt x="0" y="203233"/>
                  </a:lnTo>
                  <a:lnTo>
                    <a:pt x="203200" y="0"/>
                  </a:lnTo>
                  <a:close/>
                </a:path>
              </a:pathLst>
            </a:custGeom>
            <a:solidFill>
              <a:srgbClr val="043E63"/>
            </a:solidFill>
          </p:spPr>
        </p:sp>
        <p:sp>
          <p:nvSpPr>
            <p:cNvPr id="9" name="TextBox 9"/>
            <p:cNvSpPr txBox="1"/>
            <p:nvPr/>
          </p:nvSpPr>
          <p:spPr>
            <a:xfrm>
              <a:off x="101600" y="-38100"/>
              <a:ext cx="657219" cy="241333"/>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8686612" y="1466850"/>
            <a:ext cx="7353488" cy="7353488"/>
            <a:chOff x="0" y="0"/>
            <a:chExt cx="1936721" cy="1936721"/>
          </a:xfrm>
        </p:grpSpPr>
        <p:sp>
          <p:nvSpPr>
            <p:cNvPr id="11" name="Freeform 11"/>
            <p:cNvSpPr/>
            <p:nvPr/>
          </p:nvSpPr>
          <p:spPr>
            <a:xfrm>
              <a:off x="0" y="0"/>
              <a:ext cx="1936721" cy="1936721"/>
            </a:xfrm>
            <a:custGeom>
              <a:avLst/>
              <a:gdLst/>
              <a:ahLst/>
              <a:cxnLst/>
              <a:rect l="l" t="t" r="r" b="b"/>
              <a:pathLst>
                <a:path w="1936721" h="1936721">
                  <a:moveTo>
                    <a:pt x="126339" y="0"/>
                  </a:moveTo>
                  <a:lnTo>
                    <a:pt x="1810382" y="0"/>
                  </a:lnTo>
                  <a:cubicBezTo>
                    <a:pt x="1880157" y="0"/>
                    <a:pt x="1936721" y="56564"/>
                    <a:pt x="1936721" y="126339"/>
                  </a:cubicBezTo>
                  <a:lnTo>
                    <a:pt x="1936721" y="1810382"/>
                  </a:lnTo>
                  <a:cubicBezTo>
                    <a:pt x="1936721" y="1880157"/>
                    <a:pt x="1880157" y="1936721"/>
                    <a:pt x="1810382" y="1936721"/>
                  </a:cubicBezTo>
                  <a:lnTo>
                    <a:pt x="126339" y="1936721"/>
                  </a:lnTo>
                  <a:cubicBezTo>
                    <a:pt x="56564" y="1936721"/>
                    <a:pt x="0" y="1880157"/>
                    <a:pt x="0" y="1810382"/>
                  </a:cubicBezTo>
                  <a:lnTo>
                    <a:pt x="0" y="126339"/>
                  </a:lnTo>
                  <a:cubicBezTo>
                    <a:pt x="0" y="56564"/>
                    <a:pt x="56564" y="0"/>
                    <a:pt x="126339" y="0"/>
                  </a:cubicBezTo>
                  <a:close/>
                </a:path>
              </a:pathLst>
            </a:custGeom>
            <a:solidFill>
              <a:srgbClr val="5CEAD2"/>
            </a:solidFill>
          </p:spPr>
        </p:sp>
        <p:sp>
          <p:nvSpPr>
            <p:cNvPr id="12" name="TextBox 12"/>
            <p:cNvSpPr txBox="1"/>
            <p:nvPr/>
          </p:nvSpPr>
          <p:spPr>
            <a:xfrm>
              <a:off x="0" y="-38100"/>
              <a:ext cx="1936721" cy="1974821"/>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8882190" y="1657256"/>
            <a:ext cx="6972488" cy="6972488"/>
            <a:chOff x="592" y="-11"/>
            <a:chExt cx="812800" cy="812800"/>
          </a:xfrm>
        </p:grpSpPr>
        <p:sp>
          <p:nvSpPr>
            <p:cNvPr id="14" name="Freeform 14"/>
            <p:cNvSpPr/>
            <p:nvPr/>
          </p:nvSpPr>
          <p:spPr>
            <a:xfrm>
              <a:off x="592" y="-11"/>
              <a:ext cx="812800" cy="812800"/>
            </a:xfrm>
            <a:custGeom>
              <a:avLst/>
              <a:gdLst/>
              <a:ahLst/>
              <a:cxnLst/>
              <a:rect l="l" t="t" r="r" b="b"/>
              <a:pathLst>
                <a:path w="812800" h="812800">
                  <a:moveTo>
                    <a:pt x="116587" y="0"/>
                  </a:moveTo>
                  <a:lnTo>
                    <a:pt x="696213" y="0"/>
                  </a:lnTo>
                  <a:cubicBezTo>
                    <a:pt x="760602" y="0"/>
                    <a:pt x="812800" y="52198"/>
                    <a:pt x="812800" y="116587"/>
                  </a:cubicBezTo>
                  <a:lnTo>
                    <a:pt x="812800" y="696213"/>
                  </a:lnTo>
                  <a:cubicBezTo>
                    <a:pt x="812800" y="760602"/>
                    <a:pt x="760602" y="812800"/>
                    <a:pt x="696213" y="812800"/>
                  </a:cubicBezTo>
                  <a:lnTo>
                    <a:pt x="116587" y="812800"/>
                  </a:lnTo>
                  <a:cubicBezTo>
                    <a:pt x="52198" y="812800"/>
                    <a:pt x="0" y="760602"/>
                    <a:pt x="0" y="696213"/>
                  </a:cubicBezTo>
                  <a:lnTo>
                    <a:pt x="0" y="116587"/>
                  </a:lnTo>
                  <a:cubicBezTo>
                    <a:pt x="0" y="52198"/>
                    <a:pt x="52198" y="0"/>
                    <a:pt x="116587" y="0"/>
                  </a:cubicBezTo>
                  <a:close/>
                </a:path>
              </a:pathLst>
            </a:custGeom>
            <a:blipFill>
              <a:blip r:embed="rId4"/>
              <a:stretch>
                <a:fillRect l="-25046" r="-25046"/>
              </a:stretch>
            </a:blipFill>
          </p:spPr>
        </p:sp>
      </p:grpSp>
      <p:sp>
        <p:nvSpPr>
          <p:cNvPr id="15" name="Freeform 15"/>
          <p:cNvSpPr/>
          <p:nvPr/>
        </p:nvSpPr>
        <p:spPr>
          <a:xfrm rot="-5400000">
            <a:off x="398552" y="397200"/>
            <a:ext cx="611098" cy="611098"/>
          </a:xfrm>
          <a:custGeom>
            <a:avLst/>
            <a:gdLst/>
            <a:ahLst/>
            <a:cxnLst/>
            <a:rect l="l" t="t" r="r" b="b"/>
            <a:pathLst>
              <a:path w="611098" h="611098">
                <a:moveTo>
                  <a:pt x="0" y="0"/>
                </a:moveTo>
                <a:lnTo>
                  <a:pt x="611098" y="0"/>
                </a:lnTo>
                <a:lnTo>
                  <a:pt x="611098" y="611098"/>
                </a:lnTo>
                <a:lnTo>
                  <a:pt x="0" y="611098"/>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grpSp>
        <p:nvGrpSpPr>
          <p:cNvPr id="16" name="Group 16"/>
          <p:cNvGrpSpPr/>
          <p:nvPr/>
        </p:nvGrpSpPr>
        <p:grpSpPr>
          <a:xfrm>
            <a:off x="1219200" y="9796884"/>
            <a:ext cx="40903" cy="40903"/>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EAD2"/>
            </a:solidFill>
          </p:spPr>
        </p:sp>
        <p:sp>
          <p:nvSpPr>
            <p:cNvPr id="18" name="TextBox 18"/>
            <p:cNvSpPr txBox="1"/>
            <p:nvPr/>
          </p:nvSpPr>
          <p:spPr>
            <a:xfrm>
              <a:off x="76200" y="38100"/>
              <a:ext cx="660400" cy="698500"/>
            </a:xfrm>
            <a:prstGeom prst="rect">
              <a:avLst/>
            </a:prstGeom>
          </p:spPr>
          <p:txBody>
            <a:bodyPr lIns="74078" tIns="74078" rIns="74078" bIns="74078" rtlCol="0" anchor="ctr"/>
            <a:lstStyle/>
            <a:p>
              <a:pPr algn="ctr">
                <a:lnSpc>
                  <a:spcPts val="2659"/>
                </a:lnSpc>
              </a:pPr>
              <a:endParaRPr/>
            </a:p>
          </p:txBody>
        </p:sp>
      </p:grpSp>
      <p:sp>
        <p:nvSpPr>
          <p:cNvPr id="19" name="TextBox 19"/>
          <p:cNvSpPr txBox="1"/>
          <p:nvPr/>
        </p:nvSpPr>
        <p:spPr>
          <a:xfrm>
            <a:off x="1143000" y="3715490"/>
            <a:ext cx="7543612" cy="2774940"/>
          </a:xfrm>
          <a:prstGeom prst="rect">
            <a:avLst/>
          </a:prstGeom>
        </p:spPr>
        <p:txBody>
          <a:bodyPr lIns="0" tIns="0" rIns="0" bIns="0" rtlCol="0" anchor="t">
            <a:spAutoFit/>
          </a:bodyPr>
          <a:lstStyle/>
          <a:p>
            <a:pPr algn="ctr">
              <a:lnSpc>
                <a:spcPts val="10399"/>
              </a:lnSpc>
            </a:pPr>
            <a:r>
              <a:rPr lang="en-US" sz="9999" b="1" spc="-239" dirty="0">
                <a:solidFill>
                  <a:schemeClr val="bg1"/>
                </a:solidFill>
                <a:latin typeface="Poppins Bold"/>
                <a:ea typeface="Poppins Bold"/>
                <a:cs typeface="Poppins Bold"/>
                <a:sym typeface="Poppins Bold"/>
              </a:rPr>
              <a:t>Thank</a:t>
            </a:r>
          </a:p>
          <a:p>
            <a:pPr algn="ctr">
              <a:lnSpc>
                <a:spcPts val="10399"/>
              </a:lnSpc>
            </a:pPr>
            <a:r>
              <a:rPr lang="en-US" sz="9999" b="1" spc="-239" dirty="0">
                <a:solidFill>
                  <a:schemeClr val="bg1"/>
                </a:solidFill>
                <a:latin typeface="Poppins Bold"/>
                <a:ea typeface="Poppins Bold"/>
                <a:cs typeface="Poppins Bold"/>
                <a:sym typeface="Poppins Bold"/>
              </a:rPr>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58</TotalTime>
  <Words>761</Words>
  <Application>Microsoft Office PowerPoint</Application>
  <PresentationFormat>Custom</PresentationFormat>
  <Paragraphs>67</Paragraphs>
  <Slides>18</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Poppins Bold</vt:lpstr>
      <vt:lpstr>Courier New</vt:lpstr>
      <vt:lpstr>Calibri</vt:lpstr>
      <vt:lpstr>Times New Roman</vt:lpstr>
      <vt:lpstr>Copperplate Gothic Bold</vt:lpstr>
      <vt:lpstr>Public Sans</vt:lpstr>
      <vt:lpstr>Calisto MT</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COLUMBIA ASIA HOSPITAL</dc:title>
  <dc:creator>Nishant Choudhary</dc:creator>
  <cp:lastModifiedBy>Microsoft account</cp:lastModifiedBy>
  <cp:revision>9</cp:revision>
  <dcterms:created xsi:type="dcterms:W3CDTF">2006-08-16T00:00:00Z</dcterms:created>
  <dcterms:modified xsi:type="dcterms:W3CDTF">2026-05-23T09:41:06Z</dcterms:modified>
  <dc:identifier>DAGqAQR4JdU</dc:identifier>
</cp:coreProperties>
</file>